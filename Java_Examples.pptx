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305" r:id="rId2"/>
    <p:sldId id="306" r:id="rId3"/>
    <p:sldId id="307" r:id="rId4"/>
    <p:sldId id="308" r:id="rId5"/>
    <p:sldId id="267" r:id="rId6"/>
    <p:sldId id="284" r:id="rId7"/>
    <p:sldId id="285" r:id="rId8"/>
    <p:sldId id="268" r:id="rId9"/>
    <p:sldId id="303" r:id="rId10"/>
    <p:sldId id="304" r:id="rId11"/>
    <p:sldId id="287" r:id="rId12"/>
    <p:sldId id="290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256" r:id="rId21"/>
    <p:sldId id="258" r:id="rId22"/>
    <p:sldId id="261" r:id="rId23"/>
    <p:sldId id="262" r:id="rId24"/>
    <p:sldId id="265" r:id="rId25"/>
    <p:sldId id="266" r:id="rId26"/>
    <p:sldId id="269" r:id="rId27"/>
    <p:sldId id="270" r:id="rId28"/>
    <p:sldId id="271" r:id="rId29"/>
    <p:sldId id="275" r:id="rId30"/>
    <p:sldId id="276" r:id="rId31"/>
    <p:sldId id="277" r:id="rId32"/>
    <p:sldId id="279" r:id="rId33"/>
    <p:sldId id="280" r:id="rId34"/>
    <p:sldId id="281" r:id="rId35"/>
    <p:sldId id="283" r:id="rId36"/>
    <p:sldId id="273" r:id="rId37"/>
    <p:sldId id="282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2" d="100"/>
          <a:sy n="82" d="100"/>
        </p:scale>
        <p:origin x="-816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947302-B77D-4D1E-B700-3D40DB48DD6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92752B-DA87-466A-9C84-9B85E45BD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39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5" name="Google Shape;33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5" name="Google Shape;355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1" name="Google Shape;371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7" name="Google Shape;377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5" name="Google Shape;33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a2df431535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4" name="Google Shape;474;g2a2df431535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2a2df431535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0" name="Google Shape;480;g2a2df431535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a2df431535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3" name="Google Shape;493;g2a2df431535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a2df431535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7" name="Google Shape;507;g2a2df431535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06EEB-F7A7-42FF-9D43-02EBE3EB292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0731-1CD3-4D66-9CE8-3F7B9FB34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477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06EEB-F7A7-42FF-9D43-02EBE3EB292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0731-1CD3-4D66-9CE8-3F7B9FB34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900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06EEB-F7A7-42FF-9D43-02EBE3EB292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0731-1CD3-4D66-9CE8-3F7B9FB34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728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06EEB-F7A7-42FF-9D43-02EBE3EB292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0731-1CD3-4D66-9CE8-3F7B9FB34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8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06EEB-F7A7-42FF-9D43-02EBE3EB292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0731-1CD3-4D66-9CE8-3F7B9FB34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275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06EEB-F7A7-42FF-9D43-02EBE3EB292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0731-1CD3-4D66-9CE8-3F7B9FB34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830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06EEB-F7A7-42FF-9D43-02EBE3EB292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0731-1CD3-4D66-9CE8-3F7B9FB34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050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06EEB-F7A7-42FF-9D43-02EBE3EB292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0731-1CD3-4D66-9CE8-3F7B9FB34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033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06EEB-F7A7-42FF-9D43-02EBE3EB292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0731-1CD3-4D66-9CE8-3F7B9FB34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799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06EEB-F7A7-42FF-9D43-02EBE3EB292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0731-1CD3-4D66-9CE8-3F7B9FB34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58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06EEB-F7A7-42FF-9D43-02EBE3EB292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0731-1CD3-4D66-9CE8-3F7B9FB34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440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06EEB-F7A7-42FF-9D43-02EBE3EB292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C0731-1CD3-4D66-9CE8-3F7B9FB34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894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sz="2800">
                <a:latin typeface="Times New Roman"/>
              </a:rPr>
              <a:t>Contents / Index (1 of 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339830"/>
              </p:ext>
            </p:extLst>
          </p:nvPr>
        </p:nvGraphicFramePr>
        <p:xfrm>
          <a:off x="457200" y="1143000"/>
          <a:ext cx="8229600" cy="46224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40080"/>
                <a:gridCol w="3108960"/>
                <a:gridCol w="4480560"/>
              </a:tblGrid>
              <a:tr h="320000">
                <a:tc>
                  <a:txBody>
                    <a:bodyPr/>
                    <a:lstStyle/>
                    <a:p>
                      <a:pPr algn="ctr"/>
                      <a:r>
                        <a:rPr sz="1600" b="1" dirty="0" smtClean="0">
                          <a:solidFill>
                            <a:srgbClr val="FFFFFF"/>
                          </a:solidFill>
                          <a:latin typeface="Times New Roman"/>
                        </a:rPr>
                        <a:t>Page</a:t>
                      </a:r>
                      <a:r>
                        <a:rPr lang="en-US" sz="1600" b="1" dirty="0" smtClean="0">
                          <a:solidFill>
                            <a:srgbClr val="FFFFFF"/>
                          </a:solidFill>
                          <a:latin typeface="Times New Roman"/>
                        </a:rPr>
                        <a:t> No</a:t>
                      </a:r>
                      <a:endParaRPr sz="1600" b="1" dirty="0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Slide title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Body content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 First Simple Java Program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class Example code and modifier notes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Explanation of System.out.println(…)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Term-by-term explanation (System, dot, out, println, parentheses, string literal, semicolon)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Complie and Run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Four compile-and-run steps and the program output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 Second Short Program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Example2.java code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Example showing byte, short, and int…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Integer data type code and output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Example for byte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Byte overflow code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Example : Long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Description plus code image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Example: Double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Description plus code image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CharDemo.java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Char code and output 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1</a:t>
            </a:fld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sz="2800">
                <a:latin typeface="Times New Roman"/>
              </a:rPr>
              <a:t>Contents / Index (2 of 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415330"/>
              </p:ext>
            </p:extLst>
          </p:nvPr>
        </p:nvGraphicFramePr>
        <p:xfrm>
          <a:off x="457200" y="1143000"/>
          <a:ext cx="8229600" cy="40616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38200"/>
                <a:gridCol w="2910840"/>
                <a:gridCol w="4480560"/>
              </a:tblGrid>
              <a:tr h="320000">
                <a:tc>
                  <a:txBody>
                    <a:bodyPr/>
                    <a:lstStyle/>
                    <a:p>
                      <a:pPr algn="ctr"/>
                      <a:r>
                        <a:rPr sz="1600" b="1" dirty="0" smtClean="0">
                          <a:solidFill>
                            <a:srgbClr val="FFFFFF"/>
                          </a:solidFill>
                          <a:latin typeface="Times New Roman"/>
                        </a:rPr>
                        <a:t>Page</a:t>
                      </a:r>
                      <a:r>
                        <a:rPr lang="en-US" sz="1600" b="1" dirty="0" smtClean="0">
                          <a:solidFill>
                            <a:srgbClr val="FFFFFF"/>
                          </a:solidFill>
                          <a:latin typeface="Times New Roman"/>
                        </a:rPr>
                        <a:t> No</a:t>
                      </a:r>
                      <a:endParaRPr sz="1600" b="1" dirty="0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Slide title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Body content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CharDemo2.java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Char increment code and output 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15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BoolTest.java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Boolean code and output box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Variables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Code images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17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The Scope and Lifetime of Variables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Code images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Type Conversion and Casting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Automatic (widening) conversion notes and code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19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Type Conversion and Casting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Explicit casting notes and code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Data type Example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DataTypeDemo code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21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Variables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Code images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2</a:t>
            </a:fld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sz="2800">
                <a:latin typeface="Times New Roman"/>
              </a:rPr>
              <a:t>Contents / Index (3 of 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840448"/>
              </p:ext>
            </p:extLst>
          </p:nvPr>
        </p:nvGraphicFramePr>
        <p:xfrm>
          <a:off x="457200" y="1143000"/>
          <a:ext cx="8229600" cy="40616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40080"/>
                <a:gridCol w="3108960"/>
                <a:gridCol w="4480560"/>
              </a:tblGrid>
              <a:tr h="320000">
                <a:tc>
                  <a:txBody>
                    <a:bodyPr/>
                    <a:lstStyle/>
                    <a:p>
                      <a:pPr algn="ctr"/>
                      <a:r>
                        <a:rPr sz="1600" b="1" dirty="0" smtClean="0">
                          <a:solidFill>
                            <a:srgbClr val="FFFFFF"/>
                          </a:solidFill>
                          <a:latin typeface="Times New Roman"/>
                        </a:rPr>
                        <a:t>Page</a:t>
                      </a:r>
                      <a:endParaRPr lang="en-US" sz="1600" b="1" dirty="0" smtClean="0">
                        <a:solidFill>
                          <a:srgbClr val="FFFFFF"/>
                        </a:solidFill>
                        <a:latin typeface="Times New Roman"/>
                      </a:endParaRPr>
                    </a:p>
                    <a:p>
                      <a:pPr algn="ctr"/>
                      <a:r>
                        <a:rPr lang="en-US" sz="1600" b="1" dirty="0" smtClean="0">
                          <a:solidFill>
                            <a:srgbClr val="FFFFFF"/>
                          </a:solidFill>
                          <a:latin typeface="Times New Roman"/>
                        </a:rPr>
                        <a:t>No</a:t>
                      </a:r>
                      <a:endParaRPr sz="1600" b="1" dirty="0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Slide title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Body content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Example on 1D-arrays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Array code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23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(no title)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Array code continued and output box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Average example using arrays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Code and output 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25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Example on TwoDArray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Code and output box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Example ternary operator (?)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27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Example 2: Ternary operator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Code comparison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Example for create object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Code and notes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29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Example:1 Default Constructor (No-Argument )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Code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3</a:t>
            </a:fld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sz="2800">
                <a:latin typeface="Times New Roman"/>
              </a:rPr>
              <a:t>Contents / Index (4 of 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464305"/>
              </p:ext>
            </p:extLst>
          </p:nvPr>
        </p:nvGraphicFramePr>
        <p:xfrm>
          <a:off x="457200" y="1143000"/>
          <a:ext cx="8229600" cy="42024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40080"/>
                <a:gridCol w="3108960"/>
                <a:gridCol w="4480560"/>
              </a:tblGrid>
              <a:tr h="320000">
                <a:tc>
                  <a:txBody>
                    <a:bodyPr/>
                    <a:lstStyle/>
                    <a:p>
                      <a:pPr algn="ctr"/>
                      <a:r>
                        <a:rPr sz="1600" b="1" dirty="0" smtClean="0">
                          <a:solidFill>
                            <a:srgbClr val="FFFFFF"/>
                          </a:solidFill>
                          <a:latin typeface="Times New Roman"/>
                        </a:rPr>
                        <a:t>Page</a:t>
                      </a:r>
                      <a:endParaRPr lang="en-US" sz="1600" b="1" dirty="0" smtClean="0">
                        <a:solidFill>
                          <a:srgbClr val="FFFFFF"/>
                        </a:solidFill>
                        <a:latin typeface="Times New Roman"/>
                      </a:endParaRPr>
                    </a:p>
                    <a:p>
                      <a:pPr algn="ctr"/>
                      <a:r>
                        <a:rPr lang="en-US" sz="1600" b="1" dirty="0" smtClean="0">
                          <a:solidFill>
                            <a:srgbClr val="FFFFFF"/>
                          </a:solidFill>
                          <a:latin typeface="Times New Roman"/>
                        </a:rPr>
                        <a:t>No</a:t>
                      </a:r>
                      <a:endParaRPr sz="1600" b="1" dirty="0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Slide title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Body content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Example 2: Parameterized Constructor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31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Constructor vs. Method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Comparison table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Example: this keyword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33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Using ‘this’ to Call a Method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Code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Difference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Static vs. non-static table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35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Example for static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Code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“.”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Concept diagram (CLASS → OBJECT → … → STATIC)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37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Summary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Key terms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4</a:t>
            </a:fld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A First Simple </a:t>
            </a:r>
            <a:r>
              <a:rPr lang="en-US" sz="2800" dirty="0" smtClean="0">
                <a:latin typeface="Times New Roman"/>
                <a:ea typeface="Times New Roman"/>
                <a:cs typeface="Times New Roman"/>
                <a:sym typeface="Times New Roman"/>
              </a:rPr>
              <a:t>Java Program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29"/>
          <p:cNvSpPr txBox="1">
            <a:spLocks noGrp="1"/>
          </p:cNvSpPr>
          <p:nvPr>
            <p:ph type="body" idx="1"/>
          </p:nvPr>
        </p:nvSpPr>
        <p:spPr>
          <a:xfrm>
            <a:off x="457200" y="12573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class Example </a:t>
            </a:r>
            <a:endParaRPr lang="en-US" sz="1600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{ 	//</a:t>
            </a:r>
            <a:r>
              <a:rPr lang="en-US" sz="1600" dirty="0">
                <a:latin typeface="Times New Roman"/>
              </a:rPr>
              <a:t> indicates beginning of the class body</a:t>
            </a:r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     public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static void main(</a:t>
            </a: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tring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args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[]) </a:t>
            </a:r>
            <a:endParaRPr sz="1600" dirty="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	{ </a:t>
            </a:r>
            <a:endParaRPr sz="1600" dirty="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	  </a:t>
            </a:r>
            <a:r>
              <a:rPr lang="en-US" sz="1600" b="1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(“Welcome to Programming in Java”); 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	} </a:t>
            </a:r>
            <a:endParaRPr sz="1600" dirty="0"/>
          </a:p>
          <a:p>
            <a:pPr marL="11430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} //</a:t>
            </a:r>
            <a:r>
              <a:rPr lang="en-US" sz="1600" dirty="0">
                <a:latin typeface="Times New Roman"/>
              </a:rPr>
              <a:t> indicates </a:t>
            </a:r>
            <a:r>
              <a:rPr lang="en-US" sz="1600" dirty="0" smtClean="0">
                <a:latin typeface="Times New Roman"/>
              </a:rPr>
              <a:t>end of </a:t>
            </a:r>
            <a:r>
              <a:rPr lang="en-US" sz="1600" dirty="0">
                <a:latin typeface="Times New Roman"/>
              </a:rPr>
              <a:t>the class </a:t>
            </a:r>
            <a:r>
              <a:rPr lang="en-US" sz="1600" dirty="0" smtClean="0">
                <a:latin typeface="Times New Roman"/>
              </a:rPr>
              <a:t>body</a:t>
            </a:r>
            <a:endParaRPr lang="en-US" sz="1600" dirty="0"/>
          </a:p>
          <a:p>
            <a:pPr marL="114300" lv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b="1" dirty="0" smtClean="0">
                <a:latin typeface="Times New Roman"/>
              </a:rPr>
              <a:t>public</a:t>
            </a:r>
            <a:r>
              <a:rPr lang="en-US" sz="1600" dirty="0">
                <a:latin typeface="Times New Roman"/>
              </a:rPr>
              <a:t>: An access modifier that makes the method accessible from anywhere, allowing the JVM to find and run it.</a:t>
            </a:r>
            <a:r>
              <a:rPr lang="en-US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</a:p>
          <a:p>
            <a:pPr marL="114300" lv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b="1" dirty="0">
                <a:latin typeface="Times New Roman"/>
              </a:rPr>
              <a:t>static</a:t>
            </a:r>
            <a:r>
              <a:rPr lang="en-US" sz="1600" dirty="0">
                <a:latin typeface="Times New Roman"/>
              </a:rPr>
              <a:t>: Allows the method to be executed without needing to create an object instance of the class</a:t>
            </a:r>
            <a:r>
              <a:rPr lang="en-US" sz="1600" dirty="0" smtClean="0">
                <a:latin typeface="Times New Roman"/>
              </a:rPr>
              <a:t>.</a:t>
            </a:r>
          </a:p>
          <a:p>
            <a:pPr marL="114300" lv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b="1" dirty="0">
                <a:latin typeface="Times New Roman"/>
              </a:rPr>
              <a:t>void</a:t>
            </a:r>
            <a:r>
              <a:rPr lang="en-US" sz="1600" dirty="0">
                <a:latin typeface="Times New Roman"/>
              </a:rPr>
              <a:t>: The return type, meaning this method does not return any value after execution</a:t>
            </a:r>
            <a:r>
              <a:rPr lang="en-US" sz="1600" dirty="0" smtClean="0">
                <a:latin typeface="Times New Roman"/>
              </a:rPr>
              <a:t>.</a:t>
            </a:r>
          </a:p>
          <a:p>
            <a:pPr marL="114300" lv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b="1" dirty="0" smtClean="0">
                <a:latin typeface="Times New Roman"/>
              </a:rPr>
              <a:t>Main </a:t>
            </a:r>
            <a:r>
              <a:rPr lang="en-US" sz="1600" dirty="0">
                <a:latin typeface="Times New Roman"/>
              </a:rPr>
              <a:t>M</a:t>
            </a:r>
            <a:r>
              <a:rPr lang="en-US" sz="1600" dirty="0" smtClean="0">
                <a:latin typeface="Times New Roman"/>
              </a:rPr>
              <a:t>ethod </a:t>
            </a:r>
            <a:r>
              <a:rPr lang="en-US" sz="1600" dirty="0">
                <a:latin typeface="Times New Roman"/>
              </a:rPr>
              <a:t>name to begin executing your </a:t>
            </a:r>
            <a:r>
              <a:rPr lang="en-US" sz="1600" dirty="0" smtClean="0">
                <a:latin typeface="Times New Roman"/>
              </a:rPr>
              <a:t>code.</a:t>
            </a:r>
          </a:p>
          <a:p>
            <a:pPr marL="11430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b="1" dirty="0">
                <a:latin typeface="Times New Roman"/>
              </a:rPr>
              <a:t>String </a:t>
            </a:r>
            <a:r>
              <a:rPr lang="en-US" sz="1600" b="1" dirty="0" err="1">
                <a:latin typeface="Times New Roman"/>
              </a:rPr>
              <a:t>args</a:t>
            </a:r>
            <a:r>
              <a:rPr lang="en-US" sz="1600" b="1" dirty="0">
                <a:latin typeface="Times New Roman"/>
              </a:rPr>
              <a:t>[]</a:t>
            </a:r>
            <a:r>
              <a:rPr lang="en-US" sz="1600" dirty="0">
                <a:latin typeface="Times New Roman"/>
              </a:rPr>
              <a:t>: An array of String objects that can accept optional command-line arguments when running the program</a:t>
            </a:r>
            <a:r>
              <a:rPr lang="en-US" sz="1600" dirty="0" smtClean="0">
                <a:latin typeface="Times New Roman"/>
              </a:rPr>
              <a:t>.</a:t>
            </a:r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endParaRPr lang="en-US" sz="1600" dirty="0" smtClean="0"/>
          </a:p>
        </p:txBody>
      </p:sp>
      <p:sp>
        <p:nvSpPr>
          <p:cNvPr id="201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90788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8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Explanation of </a:t>
            </a:r>
            <a:r>
              <a:rPr lang="en-US" sz="2800" b="1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System.out.println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(“Welcome to Programming in Java”);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7300"/>
            <a:ext cx="8229600" cy="50292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b="1" dirty="0">
                <a:latin typeface="Times New Roman"/>
              </a:rPr>
              <a:t>System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600" dirty="0">
                <a:latin typeface="Times New Roman"/>
              </a:rPr>
              <a:t>A built-in Java class (from the </a:t>
            </a:r>
            <a:r>
              <a:rPr lang="en-US" sz="1600" dirty="0" err="1">
                <a:latin typeface="Times New Roman"/>
              </a:rPr>
              <a:t>java.lang</a:t>
            </a:r>
            <a:r>
              <a:rPr lang="en-US" sz="1600" dirty="0">
                <a:latin typeface="Times New Roman"/>
              </a:rPr>
              <a:t> package, which is imported automatically). It gives your program access to system-level resources like input, output, and the environment.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b="1" dirty="0">
                <a:latin typeface="Times New Roman"/>
              </a:rPr>
              <a:t>. (dot)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600" dirty="0">
                <a:latin typeface="Times New Roman"/>
              </a:rPr>
              <a:t>The member access operator. It means "go inside the thing on my left and use what's on my right."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b="1" dirty="0">
                <a:latin typeface="Times New Roman"/>
              </a:rPr>
              <a:t>out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600" dirty="0">
                <a:latin typeface="Times New Roman"/>
              </a:rPr>
              <a:t>A static field (variable) inside the System class. It is an object of type </a:t>
            </a:r>
            <a:r>
              <a:rPr lang="en-US" sz="1600" dirty="0" err="1">
                <a:latin typeface="Times New Roman"/>
              </a:rPr>
              <a:t>PrintStream</a:t>
            </a:r>
            <a:r>
              <a:rPr lang="en-US" sz="1600" dirty="0">
                <a:latin typeface="Times New Roman"/>
              </a:rPr>
              <a:t> and represents the standard output stream, which is usually your console or terminal screen.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b="1" dirty="0">
                <a:latin typeface="Times New Roman"/>
              </a:rPr>
              <a:t>. (dot)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600" dirty="0">
                <a:latin typeface="Times New Roman"/>
              </a:rPr>
              <a:t>Again, access operator: "go inside out and use something from it."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b="1" dirty="0" err="1">
                <a:latin typeface="Times New Roman"/>
              </a:rPr>
              <a:t>println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600" dirty="0">
                <a:latin typeface="Times New Roman"/>
              </a:rPr>
              <a:t>A method of the </a:t>
            </a:r>
            <a:r>
              <a:rPr lang="en-US" sz="1600" dirty="0" err="1">
                <a:latin typeface="Times New Roman"/>
              </a:rPr>
              <a:t>PrintStream</a:t>
            </a:r>
            <a:r>
              <a:rPr lang="en-US" sz="1600" dirty="0">
                <a:latin typeface="Times New Roman"/>
              </a:rPr>
              <a:t> class. The name is short for "print line." It prints whatever you give it and then moves the cursor to the next line, so the next output starts on a new line.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b="1" dirty="0">
                <a:latin typeface="Times New Roman"/>
              </a:rPr>
              <a:t>( ) (parentheses)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600" dirty="0">
                <a:latin typeface="Times New Roman"/>
              </a:rPr>
              <a:t>Method call brackets. Anything you place inside is the argument, meaning the data you pass to the method.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b="1" dirty="0">
                <a:latin typeface="Times New Roman"/>
              </a:rPr>
              <a:t>"Welcome to Programming in Java"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600" dirty="0">
                <a:latin typeface="Times New Roman"/>
              </a:rPr>
              <a:t>A String literal. The double quotes tell Java this is text. Everything between the quotes is printed exactly as written, including spaces.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b="1" dirty="0">
                <a:latin typeface="Times New Roman"/>
              </a:rPr>
              <a:t>; (semicolon)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600" dirty="0">
                <a:latin typeface="Times New Roman"/>
              </a:rPr>
              <a:t>Marks the end of the statement. Every statement in Java must end with one.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lang="en-US" sz="1600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287752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Complie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and Run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7300"/>
            <a:ext cx="8229600" cy="5029200"/>
          </a:xfrm>
        </p:spPr>
        <p:txBody>
          <a:bodyPr>
            <a:noAutofit/>
          </a:bodyPr>
          <a:lstStyle/>
          <a:p>
            <a:pPr marL="11430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endParaRPr lang="en-US" sz="1600" dirty="0"/>
          </a:p>
          <a:p>
            <a:pPr marL="114300" lv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Output </a:t>
            </a: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of the program: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Welcome to Programming in Java </a:t>
            </a:r>
            <a:endParaRPr lang="en-US" sz="1600" dirty="0"/>
          </a:p>
          <a:p>
            <a:pPr marL="114300" lv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Open the notepad and type the above program</a:t>
            </a:r>
            <a:endParaRPr lang="en-US" sz="1600" dirty="0"/>
          </a:p>
          <a:p>
            <a:pPr marL="114300" lv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Save the above program with </a:t>
            </a: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.java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extension, here file name and class name should be</a:t>
            </a:r>
            <a:endParaRPr lang="en-US" sz="1600" dirty="0"/>
          </a:p>
          <a:p>
            <a:pPr marL="114300" lv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   same, </a:t>
            </a: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  ex: Example.java </a:t>
            </a:r>
            <a:endParaRPr lang="en-US"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Open the command prompt and </a:t>
            </a: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Compile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the above program </a:t>
            </a: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1600" b="1" dirty="0" err="1">
                <a:latin typeface="Times New Roman"/>
                <a:ea typeface="Times New Roman"/>
                <a:cs typeface="Times New Roman"/>
                <a:sym typeface="Times New Roman"/>
              </a:rPr>
              <a:t>javac</a:t>
            </a: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 Example.java </a:t>
            </a:r>
            <a:endParaRPr lang="en-US"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    From the above compilation the java compiler produces a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bytecode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(.class file) </a:t>
            </a:r>
            <a:endParaRPr lang="en-US" sz="1600" dirty="0"/>
          </a:p>
          <a:p>
            <a:pPr marL="114300" lv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Finally run the program through the interpreter</a:t>
            </a: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  java Example</a:t>
            </a:r>
            <a:endParaRPr lang="en-US"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lang="en-US" sz="1600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7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595045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 Second Short Program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990"/>
              <a:buFont typeface="Arial"/>
              <a:buNone/>
            </a:pPr>
            <a:endParaRPr sz="2800"/>
          </a:p>
        </p:txBody>
      </p:sp>
      <p:sp>
        <p:nvSpPr>
          <p:cNvPr id="211" name="Google Shape;211;p31"/>
          <p:cNvSpPr txBox="1">
            <a:spLocks noGrp="1"/>
          </p:cNvSpPr>
          <p:nvPr>
            <p:ph type="body" idx="1"/>
          </p:nvPr>
        </p:nvSpPr>
        <p:spPr>
          <a:xfrm>
            <a:off x="457200" y="12573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1600" dirty="0">
                <a:latin typeface="Times New Roman"/>
              </a:rPr>
              <a:t>/*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1600" dirty="0">
                <a:latin typeface="Times New Roman"/>
              </a:rPr>
              <a:t> Here is another short example.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1600" dirty="0">
                <a:latin typeface="Times New Roman"/>
              </a:rPr>
              <a:t> Call this file "Example2.java".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1600" dirty="0">
                <a:latin typeface="Times New Roman"/>
              </a:rPr>
              <a:t>*/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1600" dirty="0">
                <a:latin typeface="Times New Roman"/>
              </a:rPr>
              <a:t>class Example2 {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1600" dirty="0">
                <a:latin typeface="Times New Roman"/>
              </a:rPr>
              <a:t> public static void main(String </a:t>
            </a:r>
            <a:r>
              <a:rPr lang="en-US" sz="1600" dirty="0" err="1">
                <a:latin typeface="Times New Roman"/>
              </a:rPr>
              <a:t>args</a:t>
            </a:r>
            <a:r>
              <a:rPr lang="en-US" sz="1600" dirty="0">
                <a:latin typeface="Times New Roman"/>
              </a:rPr>
              <a:t> []) {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1600" dirty="0">
                <a:latin typeface="Times New Roman"/>
              </a:rPr>
              <a:t> </a:t>
            </a:r>
            <a:r>
              <a:rPr lang="en-US" sz="1600" dirty="0" err="1">
                <a:latin typeface="Times New Roman"/>
              </a:rPr>
              <a:t>int</a:t>
            </a:r>
            <a:r>
              <a:rPr lang="en-US" sz="1600" dirty="0">
                <a:latin typeface="Times New Roman"/>
              </a:rPr>
              <a:t> </a:t>
            </a:r>
            <a:r>
              <a:rPr lang="en-US" sz="1600" dirty="0" err="1">
                <a:latin typeface="Times New Roman"/>
              </a:rPr>
              <a:t>num</a:t>
            </a:r>
            <a:r>
              <a:rPr lang="en-US" sz="1600" dirty="0">
                <a:latin typeface="Times New Roman"/>
              </a:rPr>
              <a:t>; </a:t>
            </a:r>
            <a:r>
              <a:rPr lang="en-US" sz="1600" dirty="0" smtClean="0">
                <a:latin typeface="Times New Roman"/>
              </a:rPr>
              <a:t>      // </a:t>
            </a:r>
            <a:r>
              <a:rPr lang="en-US" sz="1600" dirty="0">
                <a:latin typeface="Times New Roman"/>
              </a:rPr>
              <a:t>this declares a variable called </a:t>
            </a:r>
            <a:r>
              <a:rPr lang="en-US" sz="1600" dirty="0" err="1">
                <a:latin typeface="Times New Roman"/>
              </a:rPr>
              <a:t>num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1600" dirty="0">
                <a:latin typeface="Times New Roman"/>
              </a:rPr>
              <a:t> </a:t>
            </a:r>
            <a:r>
              <a:rPr lang="en-US" sz="1600" dirty="0" err="1">
                <a:latin typeface="Times New Roman"/>
              </a:rPr>
              <a:t>num</a:t>
            </a:r>
            <a:r>
              <a:rPr lang="en-US" sz="1600" dirty="0">
                <a:latin typeface="Times New Roman"/>
              </a:rPr>
              <a:t> = 100; // this assigns </a:t>
            </a:r>
            <a:r>
              <a:rPr lang="en-US" sz="1600" dirty="0" err="1">
                <a:latin typeface="Times New Roman"/>
              </a:rPr>
              <a:t>num</a:t>
            </a:r>
            <a:r>
              <a:rPr lang="en-US" sz="1600" dirty="0">
                <a:latin typeface="Times New Roman"/>
              </a:rPr>
              <a:t> the value 100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1600" dirty="0">
                <a:latin typeface="Times New Roman"/>
              </a:rPr>
              <a:t> </a:t>
            </a:r>
            <a:r>
              <a:rPr lang="en-US" sz="1600" dirty="0" err="1">
                <a:latin typeface="Times New Roman"/>
              </a:rPr>
              <a:t>System.out.println</a:t>
            </a:r>
            <a:r>
              <a:rPr lang="en-US" sz="1600" dirty="0">
                <a:latin typeface="Times New Roman"/>
              </a:rPr>
              <a:t>("This is </a:t>
            </a:r>
            <a:r>
              <a:rPr lang="en-US" sz="1600" dirty="0" err="1">
                <a:latin typeface="Times New Roman"/>
              </a:rPr>
              <a:t>num</a:t>
            </a:r>
            <a:r>
              <a:rPr lang="en-US" sz="1600" dirty="0">
                <a:latin typeface="Times New Roman"/>
              </a:rPr>
              <a:t>: " + </a:t>
            </a:r>
            <a:r>
              <a:rPr lang="en-US" sz="1600" dirty="0" err="1">
                <a:latin typeface="Times New Roman"/>
              </a:rPr>
              <a:t>num</a:t>
            </a:r>
            <a:r>
              <a:rPr lang="en-US" sz="1600" dirty="0">
                <a:latin typeface="Times New Roman"/>
              </a:rPr>
              <a:t>);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1600" dirty="0">
                <a:latin typeface="Times New Roman"/>
              </a:rPr>
              <a:t> </a:t>
            </a:r>
            <a:r>
              <a:rPr lang="en-US" sz="1600" dirty="0" err="1">
                <a:latin typeface="Times New Roman"/>
              </a:rPr>
              <a:t>num</a:t>
            </a:r>
            <a:r>
              <a:rPr lang="en-US" sz="1600" dirty="0">
                <a:latin typeface="Times New Roman"/>
              </a:rPr>
              <a:t> = </a:t>
            </a:r>
            <a:r>
              <a:rPr lang="en-US" sz="1600" dirty="0" err="1">
                <a:latin typeface="Times New Roman"/>
              </a:rPr>
              <a:t>num</a:t>
            </a:r>
            <a:r>
              <a:rPr lang="en-US" sz="1600" dirty="0">
                <a:latin typeface="Times New Roman"/>
              </a:rPr>
              <a:t> * 2;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1600" dirty="0">
                <a:latin typeface="Times New Roman"/>
              </a:rPr>
              <a:t> </a:t>
            </a:r>
            <a:r>
              <a:rPr lang="en-US" sz="1600" dirty="0" err="1">
                <a:latin typeface="Times New Roman"/>
              </a:rPr>
              <a:t>System.out.print</a:t>
            </a:r>
            <a:r>
              <a:rPr lang="en-US" sz="1600" dirty="0">
                <a:latin typeface="Times New Roman"/>
              </a:rPr>
              <a:t>("The value of </a:t>
            </a:r>
            <a:r>
              <a:rPr lang="en-US" sz="1600" dirty="0" err="1">
                <a:latin typeface="Times New Roman"/>
              </a:rPr>
              <a:t>num</a:t>
            </a:r>
            <a:r>
              <a:rPr lang="en-US" sz="1600" dirty="0">
                <a:latin typeface="Times New Roman"/>
              </a:rPr>
              <a:t> * 2 is ");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1600" dirty="0" err="1">
                <a:latin typeface="Times New Roman"/>
              </a:rPr>
              <a:t>System.out.println</a:t>
            </a:r>
            <a:r>
              <a:rPr lang="en-US" sz="1600" dirty="0">
                <a:latin typeface="Times New Roman"/>
              </a:rPr>
              <a:t>(</a:t>
            </a:r>
            <a:r>
              <a:rPr lang="en-US" sz="1600" dirty="0" err="1">
                <a:latin typeface="Times New Roman"/>
              </a:rPr>
              <a:t>num</a:t>
            </a:r>
            <a:r>
              <a:rPr lang="en-US" sz="1600" dirty="0">
                <a:latin typeface="Times New Roman"/>
              </a:rPr>
              <a:t>);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1600" dirty="0">
                <a:latin typeface="Times New Roman"/>
              </a:rPr>
              <a:t> }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1600" dirty="0">
                <a:latin typeface="Times New Roman"/>
              </a:rPr>
              <a:t>}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852"/>
              <a:buNone/>
            </a:pPr>
            <a:endParaRPr sz="1600" dirty="0"/>
          </a:p>
        </p:txBody>
      </p:sp>
      <p:sp>
        <p:nvSpPr>
          <p:cNvPr id="212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8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944020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800" dirty="0">
                <a:latin typeface="Times New Roman"/>
              </a:rPr>
              <a:t>E</a:t>
            </a:r>
            <a:r>
              <a:rPr lang="en-US" sz="2800" dirty="0" smtClean="0">
                <a:latin typeface="Times New Roman"/>
              </a:rPr>
              <a:t>xample </a:t>
            </a:r>
            <a:r>
              <a:rPr lang="en-US" sz="2800" dirty="0">
                <a:latin typeface="Times New Roman"/>
              </a:rPr>
              <a:t>showing byte, short, and </a:t>
            </a:r>
            <a:r>
              <a:rPr lang="en-US" sz="2800" dirty="0" err="1">
                <a:latin typeface="Times New Roman"/>
              </a:rPr>
              <a:t>int</a:t>
            </a:r>
            <a:r>
              <a:rPr lang="en-US" sz="2800" dirty="0">
                <a:latin typeface="Times New Roman"/>
              </a:rPr>
              <a:t>, which are Java's integer data types of different sizes.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7300"/>
            <a:ext cx="8229600" cy="50292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public class Main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public static void main(String[] </a:t>
            </a:r>
            <a:r>
              <a:rPr lang="en-US" sz="1600" dirty="0" err="1">
                <a:latin typeface="Times New Roman"/>
              </a:rPr>
              <a:t>args</a:t>
            </a:r>
            <a:r>
              <a:rPr lang="en-US" sz="1600" dirty="0">
                <a:latin typeface="Times New Roman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// byte: 8 bits, range -128 to 127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byte age = 25;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// short: 16 bits, range -32,768 to 32,767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short year = 2026;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// </a:t>
            </a:r>
            <a:r>
              <a:rPr lang="en-US" sz="1600" dirty="0" err="1">
                <a:latin typeface="Times New Roman"/>
              </a:rPr>
              <a:t>int</a:t>
            </a:r>
            <a:r>
              <a:rPr lang="en-US" sz="1600" dirty="0">
                <a:latin typeface="Times New Roman"/>
              </a:rPr>
              <a:t>: 32 bits, range about -2.1 billion to 2.1 billion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</a:t>
            </a:r>
            <a:r>
              <a:rPr lang="en-US" sz="1600" dirty="0" err="1">
                <a:latin typeface="Times New Roman"/>
              </a:rPr>
              <a:t>int</a:t>
            </a:r>
            <a:r>
              <a:rPr lang="en-US" sz="1600" dirty="0">
                <a:latin typeface="Times New Roman"/>
              </a:rPr>
              <a:t> population = 1500000000;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</a:t>
            </a:r>
            <a:r>
              <a:rPr lang="en-US" sz="1600" dirty="0" err="1">
                <a:latin typeface="Times New Roman"/>
              </a:rPr>
              <a:t>System.out.println</a:t>
            </a:r>
            <a:r>
              <a:rPr lang="en-US" sz="1600" dirty="0">
                <a:latin typeface="Times New Roman"/>
              </a:rPr>
              <a:t>("Age: " + age);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</a:t>
            </a:r>
            <a:r>
              <a:rPr lang="en-US" sz="1600" dirty="0" err="1">
                <a:latin typeface="Times New Roman"/>
              </a:rPr>
              <a:t>System.out.println</a:t>
            </a:r>
            <a:r>
              <a:rPr lang="en-US" sz="1600" dirty="0">
                <a:latin typeface="Times New Roman"/>
              </a:rPr>
              <a:t>("Year: " + year);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</a:t>
            </a:r>
            <a:r>
              <a:rPr lang="en-US" sz="1600" dirty="0" err="1">
                <a:latin typeface="Times New Roman"/>
              </a:rPr>
              <a:t>System.out.println</a:t>
            </a:r>
            <a:r>
              <a:rPr lang="en-US" sz="1600" dirty="0">
                <a:latin typeface="Times New Roman"/>
              </a:rPr>
              <a:t>("Population: " + population);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 smtClean="0">
                <a:latin typeface="Times New Roman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dirty="0">
                <a:latin typeface="Times New Roman"/>
              </a:rPr>
              <a:t>Output:</a:t>
            </a: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Age: 25 </a:t>
            </a:r>
            <a:endParaRPr lang="en-US" sz="1600" dirty="0" smtClean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 smtClean="0">
                <a:latin typeface="Times New Roman"/>
              </a:rPr>
              <a:t>Year</a:t>
            </a:r>
            <a:r>
              <a:rPr lang="en-US" sz="1600" dirty="0">
                <a:latin typeface="Times New Roman"/>
              </a:rPr>
              <a:t>: 2026 </a:t>
            </a:r>
            <a:endParaRPr lang="en-US" sz="1600" dirty="0" smtClean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 smtClean="0">
                <a:latin typeface="Times New Roman"/>
              </a:rPr>
              <a:t>Population</a:t>
            </a:r>
            <a:r>
              <a:rPr lang="en-US" sz="1600" dirty="0">
                <a:latin typeface="Times New Roman"/>
              </a:rPr>
              <a:t>: 1500000000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9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774405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800" dirty="0" smtClean="0">
                <a:latin typeface="Times New Roman"/>
              </a:rPr>
              <a:t>Example for byte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7300"/>
            <a:ext cx="8229600" cy="50292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public class Main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public static void main(String[] </a:t>
            </a:r>
            <a:r>
              <a:rPr lang="en-US" sz="1600" dirty="0" err="1">
                <a:latin typeface="Times New Roman"/>
              </a:rPr>
              <a:t>args</a:t>
            </a:r>
            <a:r>
              <a:rPr lang="en-US" sz="1600" dirty="0">
                <a:latin typeface="Times New Roman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byte b = 127;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b++;                       // goes past the maximum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</a:t>
            </a:r>
            <a:r>
              <a:rPr lang="en-US" sz="1600" dirty="0" err="1">
                <a:latin typeface="Times New Roman"/>
              </a:rPr>
              <a:t>System.out.println</a:t>
            </a:r>
            <a:r>
              <a:rPr lang="en-US" sz="1600" dirty="0">
                <a:latin typeface="Times New Roman"/>
              </a:rPr>
              <a:t>(b);     // prints -128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// byte x = 200;           // compile error: 200 doesn't fit in a byte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}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10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573670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0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0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 smtClean="0">
                <a:latin typeface="Times New Roman"/>
              </a:rPr>
              <a:t>Example : Long</a:t>
            </a:r>
            <a:endParaRPr sz="2800" dirty="0"/>
          </a:p>
        </p:txBody>
      </p:sp>
      <p:sp>
        <p:nvSpPr>
          <p:cNvPr id="265" name="Google Shape;265;p40"/>
          <p:cNvSpPr>
            <a:spLocks noGrp="1"/>
          </p:cNvSpPr>
          <p:nvPr>
            <p:ph type="pic" idx="2"/>
          </p:nvPr>
        </p:nvSpPr>
        <p:spPr>
          <a:xfrm>
            <a:off x="3887391" y="987425"/>
            <a:ext cx="4629150" cy="48735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266" name="Google Shape;266;p40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075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Times New Roman"/>
              </a:rPr>
              <a:t>For example, here is a program that computes the number of miles that light will travel in a specified number of days: 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600"/>
              <a:buNone/>
            </a:pPr>
            <a:endParaRPr sz="1600"/>
          </a:p>
        </p:txBody>
      </p:sp>
      <p:pic>
        <p:nvPicPr>
          <p:cNvPr id="267" name="Google Shape;267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24263" y="771800"/>
            <a:ext cx="4714914" cy="5097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68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11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387891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4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2800" dirty="0" smtClean="0">
                <a:latin typeface="Times New Roman"/>
              </a:rPr>
              <a:t>Example: Double</a:t>
            </a:r>
            <a:endParaRPr sz="2800" dirty="0"/>
          </a:p>
        </p:txBody>
      </p:sp>
      <p:sp>
        <p:nvSpPr>
          <p:cNvPr id="292" name="Google Shape;292;p4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22860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latin typeface="Times New Roman"/>
              </a:rPr>
              <a:t>Here is a short program that uses double variables to compute the area of a circle</a:t>
            </a:r>
            <a:endParaRPr sz="1600" dirty="0"/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endParaRPr sz="1600" dirty="0"/>
          </a:p>
        </p:txBody>
      </p:sp>
      <p:pic>
        <p:nvPicPr>
          <p:cNvPr id="293" name="Google Shape;293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6625" y="1843225"/>
            <a:ext cx="5553075" cy="3543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9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12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970785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6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2800">
                <a:latin typeface="Times New Roman"/>
              </a:rPr>
              <a:t>CharDemo.java</a:t>
            </a:r>
            <a:endParaRPr sz="2800"/>
          </a:p>
        </p:txBody>
      </p:sp>
      <p:sp>
        <p:nvSpPr>
          <p:cNvPr id="305" name="Google Shape;305;p46"/>
          <p:cNvSpPr txBox="1">
            <a:spLocks noGrp="1"/>
          </p:cNvSpPr>
          <p:nvPr>
            <p:ph type="body" idx="1"/>
          </p:nvPr>
        </p:nvSpPr>
        <p:spPr>
          <a:xfrm>
            <a:off x="457200" y="12573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>
                <a:latin typeface="Times New Roman"/>
              </a:rPr>
              <a:t>/ Demonstrate char data type.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>
                <a:latin typeface="Times New Roman"/>
              </a:rPr>
              <a:t>class CharDemo {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>
                <a:latin typeface="Times New Roman"/>
              </a:rPr>
              <a:t> public static void main(String args[]) {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>
                <a:latin typeface="Times New Roman"/>
              </a:rPr>
              <a:t> char ch1, ch2;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>
                <a:latin typeface="Times New Roman"/>
              </a:rPr>
              <a:t> ch1 = 88; // code for X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>
                <a:latin typeface="Times New Roman"/>
              </a:rPr>
              <a:t> ch2 = 'Y';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>
                <a:latin typeface="Times New Roman"/>
              </a:rPr>
              <a:t> System.out.print("ch1 and ch2: ");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>
                <a:latin typeface="Times New Roman"/>
              </a:rPr>
              <a:t> System.out.println(ch1 + " " + ch2);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>
                <a:latin typeface="Times New Roman"/>
              </a:rPr>
              <a:t> }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>
                <a:latin typeface="Times New Roman"/>
              </a:rPr>
              <a:t>}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75630"/>
              <a:buNone/>
            </a:pPr>
            <a:endParaRPr sz="1600"/>
          </a:p>
        </p:txBody>
      </p:sp>
      <p:sp>
        <p:nvSpPr>
          <p:cNvPr id="306" name="Google Shape;306;p46"/>
          <p:cNvSpPr txBox="1"/>
          <p:nvPr/>
        </p:nvSpPr>
        <p:spPr>
          <a:xfrm>
            <a:off x="5265656" y="1922175"/>
            <a:ext cx="2250000" cy="169274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 ----jGRASP exec: java CharDemo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ch1 and ch2: X Y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 ----jGRASP: operation complete.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13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866043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7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2800">
                <a:latin typeface="Times New Roman"/>
              </a:rPr>
              <a:t>CharDemo2.java</a:t>
            </a:r>
            <a:endParaRPr sz="2800"/>
          </a:p>
        </p:txBody>
      </p:sp>
      <p:sp>
        <p:nvSpPr>
          <p:cNvPr id="312" name="Google Shape;312;p47"/>
          <p:cNvSpPr txBox="1">
            <a:spLocks noGrp="1"/>
          </p:cNvSpPr>
          <p:nvPr>
            <p:ph type="body" idx="1"/>
          </p:nvPr>
        </p:nvSpPr>
        <p:spPr>
          <a:xfrm>
            <a:off x="457200" y="12573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>
                <a:latin typeface="Times New Roman"/>
              </a:rPr>
              <a:t>// char variables behave like integers.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>
                <a:latin typeface="Times New Roman"/>
              </a:rPr>
              <a:t>class CharDemo2 {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>
                <a:latin typeface="Times New Roman"/>
              </a:rPr>
              <a:t> public static void main(String args[]) {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>
                <a:latin typeface="Times New Roman"/>
              </a:rPr>
              <a:t> char ch1;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>
                <a:latin typeface="Times New Roman"/>
              </a:rPr>
              <a:t> ch1 = 'X';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>
                <a:latin typeface="Times New Roman"/>
              </a:rPr>
              <a:t> System.out.println("ch1 contains " + ch1);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>
                <a:latin typeface="Times New Roman"/>
              </a:rPr>
              <a:t> ch1++; // increment ch1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>
                <a:latin typeface="Times New Roman"/>
              </a:rPr>
              <a:t> System.out.println("ch1 is now " + ch1);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>
                <a:latin typeface="Times New Roman"/>
              </a:rPr>
              <a:t> }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>
                <a:latin typeface="Times New Roman"/>
              </a:rPr>
              <a:t>}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69498"/>
              <a:buNone/>
            </a:pPr>
            <a:endParaRPr sz="1600"/>
          </a:p>
        </p:txBody>
      </p:sp>
      <p:sp>
        <p:nvSpPr>
          <p:cNvPr id="313" name="Google Shape;313;p47"/>
          <p:cNvSpPr txBox="1"/>
          <p:nvPr/>
        </p:nvSpPr>
        <p:spPr>
          <a:xfrm>
            <a:off x="5497800" y="2622650"/>
            <a:ext cx="2250000" cy="190818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 ----jGRASP exec: java CharDemo2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ch1 contains X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ch1 is now Y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 ----jGRASP: operation complete.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14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202475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9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2800">
                <a:latin typeface="Times New Roman"/>
              </a:rPr>
              <a:t>BoolTest.java</a:t>
            </a:r>
            <a:endParaRPr sz="2800"/>
          </a:p>
        </p:txBody>
      </p:sp>
      <p:sp>
        <p:nvSpPr>
          <p:cNvPr id="325" name="Google Shape;325;p49"/>
          <p:cNvSpPr txBox="1">
            <a:spLocks noGrp="1"/>
          </p:cNvSpPr>
          <p:nvPr>
            <p:ph type="body" idx="1"/>
          </p:nvPr>
        </p:nvSpPr>
        <p:spPr>
          <a:xfrm>
            <a:off x="457200" y="12573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00">
                <a:latin typeface="Times New Roman"/>
              </a:rPr>
              <a:t>// Demonstrate boolean values.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00">
                <a:latin typeface="Times New Roman"/>
              </a:rPr>
              <a:t>class BoolTest {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00">
                <a:latin typeface="Times New Roman"/>
              </a:rPr>
              <a:t> public static void main(String args[]) {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00">
                <a:latin typeface="Times New Roman"/>
              </a:rPr>
              <a:t> boolean b;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00">
                <a:latin typeface="Times New Roman"/>
              </a:rPr>
              <a:t> b = false;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00">
                <a:latin typeface="Times New Roman"/>
              </a:rPr>
              <a:t> System.out.println("b is " + b);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00">
                <a:latin typeface="Times New Roman"/>
              </a:rPr>
              <a:t> b = true;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00">
                <a:latin typeface="Times New Roman"/>
              </a:rPr>
              <a:t> System.out.println("b is " + b);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00">
                <a:latin typeface="Times New Roman"/>
              </a:rPr>
              <a:t> // a boolean value can control the if statement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00">
                <a:latin typeface="Times New Roman"/>
              </a:rPr>
              <a:t> if(b) 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00">
                <a:latin typeface="Times New Roman"/>
              </a:rPr>
              <a:t> System.out.println("This is executed.");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00">
                <a:latin typeface="Times New Roman"/>
              </a:rPr>
              <a:t> b = false;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00">
                <a:latin typeface="Times New Roman"/>
              </a:rPr>
              <a:t> if(b) 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00">
                <a:latin typeface="Times New Roman"/>
              </a:rPr>
              <a:t> System.out.println("This is not executed.");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00">
                <a:latin typeface="Times New Roman"/>
              </a:rPr>
              <a:t> // outcome of a relational operator is a boolean value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00">
                <a:latin typeface="Times New Roman"/>
              </a:rPr>
              <a:t> System.out.println("10 &gt; 9 is " + (10 &gt; 9));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00">
                <a:latin typeface="Times New Roman"/>
              </a:rPr>
              <a:t> }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600">
                <a:latin typeface="Times New Roman"/>
              </a:rPr>
              <a:t>}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523"/>
              <a:buNone/>
            </a:pPr>
            <a:endParaRPr sz="1600"/>
          </a:p>
        </p:txBody>
      </p:sp>
      <p:sp>
        <p:nvSpPr>
          <p:cNvPr id="326" name="Google Shape;326;p49"/>
          <p:cNvSpPr txBox="1"/>
          <p:nvPr/>
        </p:nvSpPr>
        <p:spPr>
          <a:xfrm>
            <a:off x="5998706" y="1726700"/>
            <a:ext cx="2250000" cy="233907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 ----jGRASP exec: java BoolTest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b is false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b is true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This is executed.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10 &gt; 9 is true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 ----jGRASP: operation complete.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15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097865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2"/>
          <p:cNvSpPr txBox="1">
            <a:spLocks noGrp="1"/>
          </p:cNvSpPr>
          <p:nvPr>
            <p:ph type="title"/>
          </p:nvPr>
        </p:nvSpPr>
        <p:spPr>
          <a:xfrm>
            <a:off x="629562" y="116633"/>
            <a:ext cx="7886700" cy="615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28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 </a:t>
            </a:r>
            <a:endParaRPr sz="2800"/>
          </a:p>
        </p:txBody>
      </p:sp>
      <p:sp>
        <p:nvSpPr>
          <p:cNvPr id="338" name="Google Shape;338;p52"/>
          <p:cNvSpPr txBox="1">
            <a:spLocks noGrp="1"/>
          </p:cNvSpPr>
          <p:nvPr>
            <p:ph type="body" idx="1"/>
          </p:nvPr>
        </p:nvSpPr>
        <p:spPr>
          <a:xfrm>
            <a:off x="737574" y="764704"/>
            <a:ext cx="7886700" cy="590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9" name="Google Shape;339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048" y="908720"/>
            <a:ext cx="3078342" cy="1855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1580" y="3140968"/>
            <a:ext cx="4669060" cy="3026572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16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653959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15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28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Scope and Lifetime of Variables </a:t>
            </a:r>
            <a:endParaRPr sz="2800"/>
          </a:p>
        </p:txBody>
      </p:sp>
      <p:sp>
        <p:nvSpPr>
          <p:cNvPr id="358" name="Google Shape;358;p55"/>
          <p:cNvSpPr txBox="1">
            <a:spLocks noGrp="1"/>
          </p:cNvSpPr>
          <p:nvPr>
            <p:ph type="body" idx="1"/>
          </p:nvPr>
        </p:nvSpPr>
        <p:spPr>
          <a:xfrm>
            <a:off x="737574" y="1196752"/>
            <a:ext cx="7886700" cy="5184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800"/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9" name="Google Shape;359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7545" y="1052737"/>
            <a:ext cx="3996444" cy="5300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26007" y="1052737"/>
            <a:ext cx="4212467" cy="5300101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17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228429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7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28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Conversion and Casting </a:t>
            </a:r>
            <a:endParaRPr sz="2800"/>
          </a:p>
        </p:txBody>
      </p:sp>
      <p:sp>
        <p:nvSpPr>
          <p:cNvPr id="374" name="Google Shape;374;p57"/>
          <p:cNvSpPr txBox="1">
            <a:spLocks noGrp="1"/>
          </p:cNvSpPr>
          <p:nvPr>
            <p:ph type="body" idx="1"/>
          </p:nvPr>
        </p:nvSpPr>
        <p:spPr>
          <a:xfrm>
            <a:off x="457200" y="12573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16883"/>
              <a:buAutoNum type="arabicPeriod"/>
            </a:pPr>
            <a:r>
              <a:rPr lang="en-US" sz="16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Conversions / Widening conversion / Implicit conversion </a:t>
            </a:r>
            <a:endParaRPr sz="1600" b="1" i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15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16883"/>
              <a:buAutoNum type="arabicParenR"/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one type of data is assigned to another type of variable, an </a:t>
            </a:r>
            <a:r>
              <a:rPr lang="en-US" sz="1600" b="1" i="1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type conversion </a:t>
            </a:r>
            <a:r>
              <a:rPr lang="en-US" sz="16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will take place </a:t>
            </a: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following two conditions are met:</a:t>
            </a:r>
            <a:endParaRPr sz="16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16883"/>
              <a:buNone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 The two types are compatible. </a:t>
            </a:r>
            <a:endParaRPr sz="1600" b="0" i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16883"/>
              <a:buNone/>
            </a:pPr>
            <a:r>
              <a:rPr lang="en-US" sz="16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ii. The destination type is larger than the source type. </a:t>
            </a:r>
            <a:endParaRPr sz="1600" b="0" i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16883"/>
              <a:buNone/>
            </a:pPr>
            <a:endParaRPr sz="1600" b="0" i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16883"/>
              <a:buNone/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For </a:t>
            </a:r>
            <a:r>
              <a:rPr lang="en-US" sz="1600" b="0" i="1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widening conversions</a:t>
            </a: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numeric types, including integer and floating-point types, are compatible with each other. </a:t>
            </a:r>
            <a:endParaRPr sz="16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16883"/>
              <a:buNone/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There are no automatic conversions from the numeric types to char or boolean. </a:t>
            </a:r>
            <a:endParaRPr sz="16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16883"/>
              <a:buNone/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 Java also performs an </a:t>
            </a:r>
            <a:r>
              <a:rPr lang="en-US" sz="1600" b="0" i="1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type conversion </a:t>
            </a: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storing a </a:t>
            </a:r>
            <a:r>
              <a:rPr lang="en-US" sz="1600" b="1" i="1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literal integer constant </a:t>
            </a: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into variables of type </a:t>
            </a:r>
            <a:r>
              <a:rPr lang="en-US" sz="1600" b="0" i="1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</a:t>
            </a: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 b="0" i="1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</a:t>
            </a: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 b="0" i="1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</a:t>
            </a: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or </a:t>
            </a:r>
            <a:r>
              <a:rPr lang="en-US" sz="1600" b="0" i="1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</a:t>
            </a: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6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22448"/>
              <a:buNone/>
            </a:pPr>
            <a:endParaRPr sz="1600" b="0" i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22448"/>
              <a:buNone/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class Test </a:t>
            </a:r>
            <a:endParaRPr sz="16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22448"/>
              <a:buNone/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endParaRPr sz="16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22448"/>
              <a:buNone/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main(String[] args) </a:t>
            </a:r>
            <a:endParaRPr sz="16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22448"/>
              <a:buNone/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endParaRPr sz="16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22448"/>
              <a:buNone/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 = 100; </a:t>
            </a:r>
            <a:endParaRPr sz="16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22448"/>
              <a:buNone/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 L = i; </a:t>
            </a:r>
            <a:r>
              <a:rPr lang="en-US" sz="16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//no explicit type casting required </a:t>
            </a: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 f = L; </a:t>
            </a:r>
            <a:r>
              <a:rPr lang="en-US" sz="16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//no explicit type casting required </a:t>
            </a: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 ch = 100; </a:t>
            </a:r>
            <a:r>
              <a:rPr lang="en-US" sz="16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//no explicit type casting required </a:t>
            </a:r>
            <a:endParaRPr sz="1600" b="0" i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22448"/>
              <a:buNone/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System.out.println("Int value "+i); System.out.println("Long value "+L); System.out.println("Float value "+f); System.out.println("Char value "+ch); </a:t>
            </a:r>
            <a:endParaRPr sz="16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22448"/>
              <a:buNone/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16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22448"/>
              <a:buNone/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18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48513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8"/>
          <p:cNvSpPr txBox="1">
            <a:spLocks noGrp="1"/>
          </p:cNvSpPr>
          <p:nvPr>
            <p:ph type="body" idx="1"/>
          </p:nvPr>
        </p:nvSpPr>
        <p:spPr>
          <a:xfrm>
            <a:off x="457200" y="12573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Explicit conversion or Casting or Narrowing conversion </a:t>
            </a:r>
            <a:endParaRPr sz="16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To create a conversion between two </a:t>
            </a:r>
            <a:r>
              <a:rPr lang="en-US" sz="16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incompatible types</a:t>
            </a: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we must use a </a:t>
            </a:r>
            <a:r>
              <a:rPr lang="en-US" sz="1600" b="1" i="1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cast</a:t>
            </a: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6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A </a:t>
            </a:r>
            <a:r>
              <a:rPr lang="en-US" sz="1600" b="0" i="1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cast is </a:t>
            </a: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simply an explicit type conversion. </a:t>
            </a:r>
            <a:endParaRPr sz="16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The general form of Casting is – </a:t>
            </a: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6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target-type) value </a:t>
            </a:r>
            <a:endParaRPr sz="1600" b="0" i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Demonstrate casting </a:t>
            </a:r>
            <a:endParaRPr sz="1600" b="0" i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Casting { </a:t>
            </a:r>
            <a:endParaRPr sz="16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 byte b; </a:t>
            </a:r>
            <a:endParaRPr sz="16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 = 257; </a:t>
            </a:r>
            <a:endParaRPr sz="16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d = 323.142; </a:t>
            </a:r>
            <a:endParaRPr sz="16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System.out.println("\n Conversion of int to byte."); b = (byte) I; </a:t>
            </a:r>
            <a:endParaRPr sz="16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System.out.println("I and b: " + I + " " + b); </a:t>
            </a:r>
            <a:endParaRPr sz="16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System.out.println("\n Conversion of double to int."); I = (int) d; </a:t>
            </a:r>
            <a:endParaRPr sz="16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System.out.println("d and I :" + d + " " + I); </a:t>
            </a:r>
            <a:endParaRPr sz="16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b="0" i="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System.out.println("\n Conversion of double to byte."); b = (byte) d; </a:t>
            </a:r>
            <a:endParaRPr sz="160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 b="0" i="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System.out.println("d and b: " + d + " " + b); } }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58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28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Conversion and Casting </a:t>
            </a:r>
            <a:endParaRPr sz="2800"/>
          </a:p>
        </p:txBody>
      </p:sp>
      <p:sp>
        <p:nvSpPr>
          <p:cNvPr id="381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19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084441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8229600" cy="9144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800" dirty="0" smtClean="0">
                <a:latin typeface="Times New Roman"/>
              </a:rPr>
              <a:t>Data type Example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257300"/>
            <a:ext cx="8229600" cy="5029200"/>
          </a:xfrm>
        </p:spPr>
        <p:txBody>
          <a:bodyPr tIns="4572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lang="en-US" sz="1600" dirty="0" smtClean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dirty="0" smtClean="0">
                <a:solidFill>
                  <a:srgbClr val="000000"/>
                </a:solidFill>
                <a:latin typeface="Times New Roman"/>
              </a:rPr>
              <a:t>public class </a:t>
            </a:r>
            <a:r>
              <a:rPr lang="en-US" sz="1600" dirty="0" err="1" smtClean="0">
                <a:solidFill>
                  <a:srgbClr val="000000"/>
                </a:solidFill>
                <a:latin typeface="Times New Roman"/>
              </a:rPr>
              <a:t>DataTypeDemo</a:t>
            </a:r>
            <a:r>
              <a:rPr lang="en-US" sz="1600" dirty="0" smtClean="0">
                <a:solidFill>
                  <a:srgbClr val="000000"/>
                </a:solidFill>
                <a:latin typeface="Times New Roman"/>
              </a:rPr>
              <a:t>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lang="en-US" sz="1600" dirty="0" smtClean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dirty="0" smtClean="0">
                <a:solidFill>
                  <a:srgbClr val="000000"/>
                </a:solidFill>
                <a:latin typeface="Times New Roman"/>
              </a:rPr>
              <a:t>    public static void main(String[] </a:t>
            </a:r>
            <a:r>
              <a:rPr lang="en-US" sz="1600" dirty="0" err="1" smtClean="0">
                <a:solidFill>
                  <a:srgbClr val="000000"/>
                </a:solidFill>
                <a:latin typeface="Times New Roman"/>
              </a:rPr>
              <a:t>args</a:t>
            </a:r>
            <a:r>
              <a:rPr lang="en-US" sz="1600" dirty="0" smtClean="0">
                <a:solidFill>
                  <a:srgbClr val="000000"/>
                </a:solidFill>
                <a:latin typeface="Times New Roman"/>
              </a:rPr>
              <a:t>)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lang="en-US" sz="1600" dirty="0" smtClean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dirty="0" smtClean="0">
                <a:solidFill>
                  <a:srgbClr val="000000"/>
                </a:solidFill>
                <a:latin typeface="Times New Roman"/>
              </a:rPr>
              <a:t>        </a:t>
            </a:r>
            <a:r>
              <a:rPr lang="en-US" sz="1600" dirty="0" err="1" smtClean="0">
                <a:solidFill>
                  <a:srgbClr val="000000"/>
                </a:solidFill>
                <a:latin typeface="Times New Roman"/>
              </a:rPr>
              <a:t>int</a:t>
            </a:r>
            <a:r>
              <a:rPr lang="en-US" sz="1600" dirty="0" smtClean="0">
                <a:solidFill>
                  <a:srgbClr val="000000"/>
                </a:solidFill>
                <a:latin typeface="Times New Roman"/>
              </a:rPr>
              <a:t> age = 20;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dirty="0" smtClean="0">
                <a:solidFill>
                  <a:srgbClr val="000000"/>
                </a:solidFill>
                <a:latin typeface="Times New Roman"/>
              </a:rPr>
              <a:t>        double height = 5.8;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dirty="0" smtClean="0">
                <a:solidFill>
                  <a:srgbClr val="000000"/>
                </a:solidFill>
                <a:latin typeface="Times New Roman"/>
              </a:rPr>
              <a:t>        char grade = 'A';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dirty="0" smtClean="0">
                <a:solidFill>
                  <a:srgbClr val="000000"/>
                </a:solidFill>
                <a:latin typeface="Times New Roman"/>
              </a:rPr>
              <a:t>        </a:t>
            </a:r>
            <a:r>
              <a:rPr lang="en-US" sz="1600" dirty="0" err="1" smtClean="0">
                <a:solidFill>
                  <a:srgbClr val="000000"/>
                </a:solidFill>
                <a:latin typeface="Times New Roman"/>
              </a:rPr>
              <a:t>boolean</a:t>
            </a:r>
            <a:r>
              <a:rPr lang="en-US" sz="1600" dirty="0" smtClean="0">
                <a:solidFill>
                  <a:srgbClr val="000000"/>
                </a:solidFill>
                <a:latin typeface="Times New Roman"/>
              </a:rPr>
              <a:t> pass = true;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lang="en-US" sz="1600" dirty="0" smtClean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dirty="0" smtClean="0">
                <a:solidFill>
                  <a:srgbClr val="000000"/>
                </a:solidFill>
                <a:latin typeface="Times New Roman"/>
              </a:rPr>
              <a:t>        </a:t>
            </a:r>
            <a:r>
              <a:rPr lang="en-US" sz="1600" dirty="0" err="1" smtClean="0">
                <a:solidFill>
                  <a:srgbClr val="000000"/>
                </a:solidFill>
                <a:latin typeface="Times New Roman"/>
              </a:rPr>
              <a:t>System.out.println</a:t>
            </a:r>
            <a:r>
              <a:rPr lang="en-US" sz="1600" dirty="0" smtClean="0">
                <a:solidFill>
                  <a:srgbClr val="000000"/>
                </a:solidFill>
                <a:latin typeface="Times New Roman"/>
              </a:rPr>
              <a:t>(age);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dirty="0" smtClean="0">
                <a:solidFill>
                  <a:srgbClr val="000000"/>
                </a:solidFill>
                <a:latin typeface="Times New Roman"/>
              </a:rPr>
              <a:t>        </a:t>
            </a:r>
            <a:r>
              <a:rPr lang="en-US" sz="1600" dirty="0" err="1" smtClean="0">
                <a:solidFill>
                  <a:srgbClr val="000000"/>
                </a:solidFill>
                <a:latin typeface="Times New Roman"/>
              </a:rPr>
              <a:t>System.out.println</a:t>
            </a:r>
            <a:r>
              <a:rPr lang="en-US" sz="1600" dirty="0" smtClean="0">
                <a:solidFill>
                  <a:srgbClr val="000000"/>
                </a:solidFill>
                <a:latin typeface="Times New Roman"/>
              </a:rPr>
              <a:t>(height);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dirty="0" smtClean="0">
                <a:solidFill>
                  <a:srgbClr val="000000"/>
                </a:solidFill>
                <a:latin typeface="Times New Roman"/>
              </a:rPr>
              <a:t>        </a:t>
            </a:r>
            <a:r>
              <a:rPr lang="en-US" sz="1600" dirty="0" err="1" smtClean="0">
                <a:solidFill>
                  <a:srgbClr val="000000"/>
                </a:solidFill>
                <a:latin typeface="Times New Roman"/>
              </a:rPr>
              <a:t>System.out.println</a:t>
            </a:r>
            <a:r>
              <a:rPr lang="en-US" sz="1600" dirty="0" smtClean="0">
                <a:solidFill>
                  <a:srgbClr val="000000"/>
                </a:solidFill>
                <a:latin typeface="Times New Roman"/>
              </a:rPr>
              <a:t>(grade);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dirty="0" smtClean="0">
                <a:solidFill>
                  <a:srgbClr val="000000"/>
                </a:solidFill>
                <a:latin typeface="Times New Roman"/>
              </a:rPr>
              <a:t>        </a:t>
            </a:r>
            <a:r>
              <a:rPr lang="en-US" sz="1600" dirty="0" err="1" smtClean="0">
                <a:solidFill>
                  <a:srgbClr val="000000"/>
                </a:solidFill>
                <a:latin typeface="Times New Roman"/>
              </a:rPr>
              <a:t>System.out.println</a:t>
            </a:r>
            <a:r>
              <a:rPr lang="en-US" sz="1600" dirty="0" smtClean="0">
                <a:solidFill>
                  <a:srgbClr val="000000"/>
                </a:solidFill>
                <a:latin typeface="Times New Roman"/>
              </a:rPr>
              <a:t>(pass);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dirty="0" smtClean="0">
                <a:solidFill>
                  <a:srgbClr val="000000"/>
                </a:solidFill>
                <a:latin typeface="Times New Roman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dirty="0" smtClean="0">
                <a:solidFill>
                  <a:srgbClr val="000000"/>
                </a:solidFill>
                <a:latin typeface="Times New Roman"/>
              </a:rPr>
              <a:t>}</a:t>
            </a:r>
            <a:endParaRPr lang="en-US" sz="1600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20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686688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2"/>
          <p:cNvSpPr txBox="1">
            <a:spLocks noGrp="1"/>
          </p:cNvSpPr>
          <p:nvPr>
            <p:ph type="title"/>
          </p:nvPr>
        </p:nvSpPr>
        <p:spPr>
          <a:xfrm>
            <a:off x="629562" y="116633"/>
            <a:ext cx="7886700" cy="615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28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 </a:t>
            </a:r>
            <a:endParaRPr sz="2800"/>
          </a:p>
        </p:txBody>
      </p:sp>
      <p:sp>
        <p:nvSpPr>
          <p:cNvPr id="338" name="Google Shape;338;p52"/>
          <p:cNvSpPr txBox="1">
            <a:spLocks noGrp="1"/>
          </p:cNvSpPr>
          <p:nvPr>
            <p:ph type="body" idx="1"/>
          </p:nvPr>
        </p:nvSpPr>
        <p:spPr>
          <a:xfrm>
            <a:off x="737574" y="764704"/>
            <a:ext cx="7886700" cy="590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9" name="Google Shape;339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048" y="908720"/>
            <a:ext cx="3078342" cy="1855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1580" y="3140968"/>
            <a:ext cx="4669060" cy="3026572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21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158699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a2df431535_0_63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2800">
                <a:latin typeface="Times New Roman"/>
              </a:rPr>
              <a:t>Example on 1D-arrays</a:t>
            </a:r>
            <a:endParaRPr sz="2800"/>
          </a:p>
        </p:txBody>
      </p:sp>
      <p:sp>
        <p:nvSpPr>
          <p:cNvPr id="477" name="Google Shape;477;g2a2df431535_0_63"/>
          <p:cNvSpPr txBox="1">
            <a:spLocks noGrp="1"/>
          </p:cNvSpPr>
          <p:nvPr>
            <p:ph type="body" idx="1"/>
          </p:nvPr>
        </p:nvSpPr>
        <p:spPr>
          <a:xfrm>
            <a:off x="457200" y="12573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75630"/>
              <a:buNone/>
            </a:pPr>
            <a:r>
              <a:rPr lang="en-US" sz="1600">
                <a:latin typeface="Times New Roman"/>
              </a:rPr>
              <a:t>// Demonstrate a one-dimensional array.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75630"/>
              <a:buNone/>
            </a:pPr>
            <a:r>
              <a:rPr lang="en-US" sz="1600">
                <a:latin typeface="Times New Roman"/>
              </a:rPr>
              <a:t>class Array {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75630"/>
              <a:buNone/>
            </a:pPr>
            <a:r>
              <a:rPr lang="en-US" sz="1600">
                <a:latin typeface="Times New Roman"/>
              </a:rPr>
              <a:t> public static void main(String args[]) {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75630"/>
              <a:buNone/>
            </a:pPr>
            <a:r>
              <a:rPr lang="en-US" sz="1600">
                <a:latin typeface="Times New Roman"/>
              </a:rPr>
              <a:t> int month_days[];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75630"/>
              <a:buNone/>
            </a:pPr>
            <a:r>
              <a:rPr lang="en-US" sz="1600">
                <a:latin typeface="Times New Roman"/>
              </a:rPr>
              <a:t> month_days = new int[12];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75630"/>
              <a:buNone/>
            </a:pPr>
            <a:r>
              <a:rPr lang="en-US" sz="1600">
                <a:latin typeface="Times New Roman"/>
              </a:rPr>
              <a:t> month_days[0] = 31;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75630"/>
              <a:buNone/>
            </a:pPr>
            <a:r>
              <a:rPr lang="en-US" sz="1600">
                <a:latin typeface="Times New Roman"/>
              </a:rPr>
              <a:t> month_days[1] = 28;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75630"/>
              <a:buNone/>
            </a:pPr>
            <a:r>
              <a:rPr lang="en-US" sz="1600">
                <a:latin typeface="Times New Roman"/>
              </a:rPr>
              <a:t> month_days[2] = 31;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75630"/>
              <a:buNone/>
            </a:pPr>
            <a:r>
              <a:rPr lang="en-US" sz="1600">
                <a:latin typeface="Times New Roman"/>
              </a:rPr>
              <a:t> month_days[3] = 30;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75630"/>
              <a:buNone/>
            </a:pPr>
            <a:r>
              <a:rPr lang="en-US" sz="1600">
                <a:latin typeface="Times New Roman"/>
              </a:rPr>
              <a:t> month_days[4] = 31;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75630"/>
              <a:buNone/>
            </a:pPr>
            <a:r>
              <a:rPr lang="en-US" sz="1600">
                <a:latin typeface="Times New Roman"/>
              </a:rPr>
              <a:t> month_days[5] = 30;</a:t>
            </a:r>
            <a:endParaRPr sz="1600"/>
          </a:p>
        </p:txBody>
      </p:sp>
      <p:sp>
        <p:nvSpPr>
          <p:cNvPr id="478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22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5902533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a2df431535_0_71"/>
          <p:cNvSpPr txBox="1">
            <a:spLocks noGrp="1"/>
          </p:cNvSpPr>
          <p:nvPr>
            <p:ph type="body" idx="1"/>
          </p:nvPr>
        </p:nvSpPr>
        <p:spPr>
          <a:xfrm>
            <a:off x="457200" y="12573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>
                <a:latin typeface="Times New Roman"/>
              </a:rPr>
              <a:t>month_days[6] = 31;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>
                <a:latin typeface="Times New Roman"/>
              </a:rPr>
              <a:t> month_days[7] = 31;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>
                <a:latin typeface="Times New Roman"/>
              </a:rPr>
              <a:t> month_days[8] = 30;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>
                <a:latin typeface="Times New Roman"/>
              </a:rPr>
              <a:t> month_days[9] = 31;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>
                <a:latin typeface="Times New Roman"/>
              </a:rPr>
              <a:t> month_days[10] = 30;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>
                <a:latin typeface="Times New Roman"/>
              </a:rPr>
              <a:t> month_days[11] = 31;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>
                <a:latin typeface="Times New Roman"/>
              </a:rPr>
              <a:t> System.out.println("April has " + month_days[3] + " days.");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>
                <a:latin typeface="Times New Roman"/>
              </a:rPr>
              <a:t> }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1600">
                <a:latin typeface="Times New Roman"/>
              </a:rPr>
              <a:t>}</a:t>
            </a:r>
            <a:endParaRPr sz="1600"/>
          </a:p>
        </p:txBody>
      </p:sp>
      <p:sp>
        <p:nvSpPr>
          <p:cNvPr id="483" name="Google Shape;483;g2a2df431535_0_71"/>
          <p:cNvSpPr txBox="1"/>
          <p:nvPr/>
        </p:nvSpPr>
        <p:spPr>
          <a:xfrm>
            <a:off x="2919938" y="4805475"/>
            <a:ext cx="4485825" cy="1231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----jGRASP exec: java Array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April has 30 days.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 ----jGRASP: operation complete.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23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298829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a2df431535_0_87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2800">
                <a:latin typeface="Times New Roman"/>
              </a:rPr>
              <a:t>Average example using arrays</a:t>
            </a:r>
            <a:endParaRPr sz="2800"/>
          </a:p>
        </p:txBody>
      </p:sp>
      <p:sp>
        <p:nvSpPr>
          <p:cNvPr id="496" name="Google Shape;496;g2a2df431535_0_87"/>
          <p:cNvSpPr txBox="1">
            <a:spLocks noGrp="1"/>
          </p:cNvSpPr>
          <p:nvPr>
            <p:ph type="body" idx="1"/>
          </p:nvPr>
        </p:nvSpPr>
        <p:spPr>
          <a:xfrm>
            <a:off x="457200" y="12573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 dirty="0">
                <a:latin typeface="Times New Roman"/>
              </a:rPr>
              <a:t>// Average an array of values.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 dirty="0">
                <a:latin typeface="Times New Roman"/>
              </a:rPr>
              <a:t>class Average {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 dirty="0">
                <a:latin typeface="Times New Roman"/>
              </a:rPr>
              <a:t> public static void main(String </a:t>
            </a:r>
            <a:r>
              <a:rPr lang="en-US" sz="1600" dirty="0" err="1">
                <a:latin typeface="Times New Roman"/>
              </a:rPr>
              <a:t>args</a:t>
            </a:r>
            <a:r>
              <a:rPr lang="en-US" sz="1600" dirty="0">
                <a:latin typeface="Times New Roman"/>
              </a:rPr>
              <a:t>[]) {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 dirty="0">
                <a:latin typeface="Times New Roman"/>
              </a:rPr>
              <a:t> double </a:t>
            </a:r>
            <a:r>
              <a:rPr lang="en-US" sz="1600" dirty="0" err="1">
                <a:latin typeface="Times New Roman"/>
              </a:rPr>
              <a:t>nums</a:t>
            </a:r>
            <a:r>
              <a:rPr lang="en-US" sz="1600" dirty="0">
                <a:latin typeface="Times New Roman"/>
              </a:rPr>
              <a:t>[] = {10.1, 11.2, 12.3, 13.4, 14.5};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 dirty="0">
                <a:latin typeface="Times New Roman"/>
              </a:rPr>
              <a:t> double result = 0;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 dirty="0">
                <a:latin typeface="Times New Roman"/>
              </a:rPr>
              <a:t> </a:t>
            </a:r>
            <a:r>
              <a:rPr lang="en-US" sz="1600" dirty="0" err="1">
                <a:latin typeface="Times New Roman"/>
              </a:rPr>
              <a:t>int</a:t>
            </a:r>
            <a:r>
              <a:rPr lang="en-US" sz="1600" dirty="0">
                <a:latin typeface="Times New Roman"/>
              </a:rPr>
              <a:t> </a:t>
            </a:r>
            <a:r>
              <a:rPr lang="en-US" sz="1600" dirty="0" err="1">
                <a:latin typeface="Times New Roman"/>
              </a:rPr>
              <a:t>i</a:t>
            </a:r>
            <a:r>
              <a:rPr lang="en-US" sz="1600" dirty="0">
                <a:latin typeface="Times New Roman"/>
              </a:rPr>
              <a:t>;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 dirty="0">
                <a:latin typeface="Times New Roman"/>
              </a:rPr>
              <a:t>for(</a:t>
            </a:r>
            <a:r>
              <a:rPr lang="en-US" sz="1600" dirty="0" err="1">
                <a:latin typeface="Times New Roman"/>
              </a:rPr>
              <a:t>i</a:t>
            </a:r>
            <a:r>
              <a:rPr lang="en-US" sz="1600" dirty="0">
                <a:latin typeface="Times New Roman"/>
              </a:rPr>
              <a:t>=0; </a:t>
            </a:r>
            <a:r>
              <a:rPr lang="en-US" sz="1600" dirty="0" err="1">
                <a:latin typeface="Times New Roman"/>
              </a:rPr>
              <a:t>i</a:t>
            </a:r>
            <a:r>
              <a:rPr lang="en-US" sz="1600" dirty="0">
                <a:latin typeface="Times New Roman"/>
              </a:rPr>
              <a:t>&lt;5; </a:t>
            </a:r>
            <a:r>
              <a:rPr lang="en-US" sz="1600" dirty="0" err="1">
                <a:latin typeface="Times New Roman"/>
              </a:rPr>
              <a:t>i</a:t>
            </a:r>
            <a:r>
              <a:rPr lang="en-US" sz="1600" dirty="0">
                <a:latin typeface="Times New Roman"/>
              </a:rPr>
              <a:t>++)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 dirty="0">
                <a:latin typeface="Times New Roman"/>
              </a:rPr>
              <a:t> result = result + </a:t>
            </a:r>
            <a:r>
              <a:rPr lang="en-US" sz="1600" dirty="0" err="1">
                <a:latin typeface="Times New Roman"/>
              </a:rPr>
              <a:t>nums</a:t>
            </a:r>
            <a:r>
              <a:rPr lang="en-US" sz="1600" dirty="0">
                <a:latin typeface="Times New Roman"/>
              </a:rPr>
              <a:t>[</a:t>
            </a:r>
            <a:r>
              <a:rPr lang="en-US" sz="1600" dirty="0" err="1">
                <a:latin typeface="Times New Roman"/>
              </a:rPr>
              <a:t>i</a:t>
            </a:r>
            <a:r>
              <a:rPr lang="en-US" sz="1600" dirty="0">
                <a:latin typeface="Times New Roman"/>
              </a:rPr>
              <a:t>];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 dirty="0">
                <a:latin typeface="Times New Roman"/>
              </a:rPr>
              <a:t> </a:t>
            </a:r>
            <a:r>
              <a:rPr lang="en-US" sz="1600" dirty="0" err="1">
                <a:latin typeface="Times New Roman"/>
              </a:rPr>
              <a:t>System.out.println</a:t>
            </a:r>
            <a:r>
              <a:rPr lang="en-US" sz="1600" dirty="0">
                <a:latin typeface="Times New Roman"/>
              </a:rPr>
              <a:t>("Average is " + result / 5);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 dirty="0">
                <a:latin typeface="Times New Roman"/>
              </a:rPr>
              <a:t> }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1600" dirty="0">
                <a:latin typeface="Times New Roman"/>
              </a:rPr>
              <a:t>}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75630"/>
              <a:buNone/>
            </a:pPr>
            <a:endParaRPr sz="1600" dirty="0"/>
          </a:p>
        </p:txBody>
      </p:sp>
      <p:sp>
        <p:nvSpPr>
          <p:cNvPr id="497" name="Google Shape;497;g2a2df431535_0_87"/>
          <p:cNvSpPr txBox="1"/>
          <p:nvPr/>
        </p:nvSpPr>
        <p:spPr>
          <a:xfrm>
            <a:off x="5943600" y="3657600"/>
            <a:ext cx="3057150" cy="233907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----</a:t>
            </a:r>
            <a:r>
              <a:rPr lang="en-US" sz="1600" b="1" i="0" u="none" strike="noStrike" cap="none" dirty="0" err="1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jGRASP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 exec: java Average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Average is 12.299999999999999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 ----</a:t>
            </a:r>
            <a:r>
              <a:rPr lang="en-US" sz="1600" b="1" i="0" u="none" strike="noStrike" cap="none" dirty="0" err="1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jGRASP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: operation complete.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24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2799125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a2df431535_0_107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800"/>
              <a:buNone/>
            </a:pPr>
            <a:r>
              <a:rPr lang="en-US" sz="2800" dirty="0">
                <a:latin typeface="Times New Roman"/>
              </a:rPr>
              <a:t>Example on </a:t>
            </a:r>
            <a:r>
              <a:rPr lang="en-US" sz="2800" dirty="0" err="1">
                <a:latin typeface="Times New Roman"/>
              </a:rPr>
              <a:t>TwoDArray</a:t>
            </a:r>
            <a:endParaRPr sz="2800" dirty="0"/>
          </a:p>
        </p:txBody>
      </p:sp>
      <p:sp>
        <p:nvSpPr>
          <p:cNvPr id="510" name="Google Shape;510;g2a2df431535_0_107"/>
          <p:cNvSpPr txBox="1">
            <a:spLocks noGrp="1"/>
          </p:cNvSpPr>
          <p:nvPr>
            <p:ph type="body" idx="1"/>
          </p:nvPr>
        </p:nvSpPr>
        <p:spPr>
          <a:xfrm>
            <a:off x="457200" y="12573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605"/>
              <a:buNone/>
            </a:pPr>
            <a:r>
              <a:rPr lang="en-US" sz="1600" b="1" dirty="0">
                <a:latin typeface="Times New Roman"/>
              </a:rPr>
              <a:t>// Demonstrate a two-dimensional array.</a:t>
            </a:r>
            <a:endParaRPr sz="16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605"/>
              <a:buNone/>
            </a:pPr>
            <a:r>
              <a:rPr lang="en-US" sz="1600" b="1" dirty="0">
                <a:latin typeface="Times New Roman"/>
              </a:rPr>
              <a:t>class </a:t>
            </a:r>
            <a:r>
              <a:rPr lang="en-US" sz="1600" b="1" dirty="0" err="1">
                <a:latin typeface="Times New Roman"/>
              </a:rPr>
              <a:t>TwoDArray</a:t>
            </a:r>
            <a:r>
              <a:rPr lang="en-US" sz="1600" b="1" dirty="0">
                <a:latin typeface="Times New Roman"/>
              </a:rPr>
              <a:t> {</a:t>
            </a:r>
            <a:endParaRPr sz="16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605"/>
              <a:buNone/>
            </a:pPr>
            <a:r>
              <a:rPr lang="en-US" sz="1600" b="1" dirty="0">
                <a:latin typeface="Times New Roman"/>
              </a:rPr>
              <a:t> public static void main(String </a:t>
            </a:r>
            <a:r>
              <a:rPr lang="en-US" sz="1600" b="1" dirty="0" err="1">
                <a:latin typeface="Times New Roman"/>
              </a:rPr>
              <a:t>args</a:t>
            </a:r>
            <a:r>
              <a:rPr lang="en-US" sz="1600" b="1" dirty="0">
                <a:latin typeface="Times New Roman"/>
              </a:rPr>
              <a:t>[]) {</a:t>
            </a:r>
            <a:endParaRPr sz="16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605"/>
              <a:buNone/>
            </a:pPr>
            <a:r>
              <a:rPr lang="en-US" sz="1600" b="1" dirty="0">
                <a:latin typeface="Times New Roman"/>
              </a:rPr>
              <a:t> </a:t>
            </a:r>
            <a:r>
              <a:rPr lang="en-US" sz="1600" b="1" dirty="0" err="1">
                <a:latin typeface="Times New Roman"/>
              </a:rPr>
              <a:t>int</a:t>
            </a:r>
            <a:r>
              <a:rPr lang="en-US" sz="1600" b="1" dirty="0">
                <a:latin typeface="Times New Roman"/>
              </a:rPr>
              <a:t> </a:t>
            </a:r>
            <a:r>
              <a:rPr lang="en-US" sz="1600" b="1" dirty="0" err="1">
                <a:latin typeface="Times New Roman"/>
              </a:rPr>
              <a:t>twoD</a:t>
            </a:r>
            <a:r>
              <a:rPr lang="en-US" sz="1600" b="1" dirty="0">
                <a:latin typeface="Times New Roman"/>
              </a:rPr>
              <a:t>[][]= new </a:t>
            </a:r>
            <a:r>
              <a:rPr lang="en-US" sz="1600" b="1" dirty="0" err="1">
                <a:latin typeface="Times New Roman"/>
              </a:rPr>
              <a:t>int</a:t>
            </a:r>
            <a:r>
              <a:rPr lang="en-US" sz="1600" b="1" dirty="0">
                <a:latin typeface="Times New Roman"/>
              </a:rPr>
              <a:t>[4][5];</a:t>
            </a:r>
            <a:endParaRPr sz="16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605"/>
              <a:buNone/>
            </a:pPr>
            <a:r>
              <a:rPr lang="en-US" sz="1600" b="1" dirty="0">
                <a:latin typeface="Times New Roman"/>
              </a:rPr>
              <a:t> </a:t>
            </a:r>
            <a:r>
              <a:rPr lang="en-US" sz="1600" b="1" dirty="0" err="1">
                <a:latin typeface="Times New Roman"/>
              </a:rPr>
              <a:t>int</a:t>
            </a:r>
            <a:r>
              <a:rPr lang="en-US" sz="1600" b="1" dirty="0">
                <a:latin typeface="Times New Roman"/>
              </a:rPr>
              <a:t> </a:t>
            </a:r>
            <a:r>
              <a:rPr lang="en-US" sz="1600" b="1" dirty="0" err="1">
                <a:latin typeface="Times New Roman"/>
              </a:rPr>
              <a:t>i</a:t>
            </a:r>
            <a:r>
              <a:rPr lang="en-US" sz="1600" b="1" dirty="0">
                <a:latin typeface="Times New Roman"/>
              </a:rPr>
              <a:t>, j, k = 0;</a:t>
            </a:r>
            <a:endParaRPr sz="16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605"/>
              <a:buNone/>
            </a:pPr>
            <a:r>
              <a:rPr lang="en-US" sz="1600" b="1" dirty="0">
                <a:latin typeface="Times New Roman"/>
              </a:rPr>
              <a:t> for(</a:t>
            </a:r>
            <a:r>
              <a:rPr lang="en-US" sz="1600" b="1" dirty="0" err="1">
                <a:latin typeface="Times New Roman"/>
              </a:rPr>
              <a:t>i</a:t>
            </a:r>
            <a:r>
              <a:rPr lang="en-US" sz="1600" b="1" dirty="0">
                <a:latin typeface="Times New Roman"/>
              </a:rPr>
              <a:t>=0; </a:t>
            </a:r>
            <a:r>
              <a:rPr lang="en-US" sz="1600" b="1" dirty="0" err="1">
                <a:latin typeface="Times New Roman"/>
              </a:rPr>
              <a:t>i</a:t>
            </a:r>
            <a:r>
              <a:rPr lang="en-US" sz="1600" b="1" dirty="0">
                <a:latin typeface="Times New Roman"/>
              </a:rPr>
              <a:t>&lt;4; </a:t>
            </a:r>
            <a:r>
              <a:rPr lang="en-US" sz="1600" b="1" dirty="0" err="1">
                <a:latin typeface="Times New Roman"/>
              </a:rPr>
              <a:t>i</a:t>
            </a:r>
            <a:r>
              <a:rPr lang="en-US" sz="1600" b="1" dirty="0">
                <a:latin typeface="Times New Roman"/>
              </a:rPr>
              <a:t>++)</a:t>
            </a:r>
            <a:endParaRPr sz="16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605"/>
              <a:buNone/>
            </a:pPr>
            <a:r>
              <a:rPr lang="en-US" sz="1600" b="1" dirty="0">
                <a:latin typeface="Times New Roman"/>
              </a:rPr>
              <a:t> for(j=0; j&lt;5; j++) {</a:t>
            </a:r>
            <a:endParaRPr sz="16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605"/>
              <a:buNone/>
            </a:pPr>
            <a:r>
              <a:rPr lang="en-US" sz="1600" b="1" dirty="0">
                <a:latin typeface="Times New Roman"/>
              </a:rPr>
              <a:t> </a:t>
            </a:r>
            <a:r>
              <a:rPr lang="en-US" sz="1600" b="1" dirty="0" err="1">
                <a:latin typeface="Times New Roman"/>
              </a:rPr>
              <a:t>twoD</a:t>
            </a:r>
            <a:r>
              <a:rPr lang="en-US" sz="1600" b="1" dirty="0">
                <a:latin typeface="Times New Roman"/>
              </a:rPr>
              <a:t>[</a:t>
            </a:r>
            <a:r>
              <a:rPr lang="en-US" sz="1600" b="1" dirty="0" err="1">
                <a:latin typeface="Times New Roman"/>
              </a:rPr>
              <a:t>i</a:t>
            </a:r>
            <a:r>
              <a:rPr lang="en-US" sz="1600" b="1" dirty="0">
                <a:latin typeface="Times New Roman"/>
              </a:rPr>
              <a:t>][j] = k;</a:t>
            </a:r>
            <a:endParaRPr sz="16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605"/>
              <a:buNone/>
            </a:pPr>
            <a:r>
              <a:rPr lang="en-US" sz="1600" b="1" dirty="0">
                <a:latin typeface="Times New Roman"/>
              </a:rPr>
              <a:t> k++;</a:t>
            </a:r>
            <a:endParaRPr sz="16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605"/>
              <a:buNone/>
            </a:pPr>
            <a:r>
              <a:rPr lang="en-US" sz="1600" b="1" dirty="0">
                <a:latin typeface="Times New Roman"/>
              </a:rPr>
              <a:t> }</a:t>
            </a:r>
            <a:endParaRPr sz="16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605"/>
              <a:buNone/>
            </a:pPr>
            <a:r>
              <a:rPr lang="en-US" sz="1600" b="1" dirty="0">
                <a:latin typeface="Times New Roman"/>
              </a:rPr>
              <a:t> for(</a:t>
            </a:r>
            <a:r>
              <a:rPr lang="en-US" sz="1600" b="1" dirty="0" err="1">
                <a:latin typeface="Times New Roman"/>
              </a:rPr>
              <a:t>i</a:t>
            </a:r>
            <a:r>
              <a:rPr lang="en-US" sz="1600" b="1" dirty="0">
                <a:latin typeface="Times New Roman"/>
              </a:rPr>
              <a:t>=0; </a:t>
            </a:r>
            <a:r>
              <a:rPr lang="en-US" sz="1600" b="1" dirty="0" err="1">
                <a:latin typeface="Times New Roman"/>
              </a:rPr>
              <a:t>i</a:t>
            </a:r>
            <a:r>
              <a:rPr lang="en-US" sz="1600" b="1" dirty="0">
                <a:latin typeface="Times New Roman"/>
              </a:rPr>
              <a:t>&lt;4; </a:t>
            </a:r>
            <a:r>
              <a:rPr lang="en-US" sz="1600" b="1" dirty="0" err="1">
                <a:latin typeface="Times New Roman"/>
              </a:rPr>
              <a:t>i</a:t>
            </a:r>
            <a:r>
              <a:rPr lang="en-US" sz="1600" b="1" dirty="0">
                <a:latin typeface="Times New Roman"/>
              </a:rPr>
              <a:t>++) {</a:t>
            </a:r>
            <a:endParaRPr sz="16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605"/>
              <a:buNone/>
            </a:pPr>
            <a:r>
              <a:rPr lang="en-US" sz="1600" b="1" dirty="0">
                <a:latin typeface="Times New Roman"/>
              </a:rPr>
              <a:t> for(j=0; j&lt;5; j++)</a:t>
            </a:r>
            <a:endParaRPr sz="16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605"/>
              <a:buNone/>
            </a:pPr>
            <a:r>
              <a:rPr lang="en-US" sz="1600" b="1" dirty="0">
                <a:latin typeface="Times New Roman"/>
              </a:rPr>
              <a:t> </a:t>
            </a:r>
            <a:r>
              <a:rPr lang="en-US" sz="1600" b="1" dirty="0" err="1">
                <a:latin typeface="Times New Roman"/>
              </a:rPr>
              <a:t>System.out.print</a:t>
            </a:r>
            <a:r>
              <a:rPr lang="en-US" sz="1600" b="1" dirty="0">
                <a:latin typeface="Times New Roman"/>
              </a:rPr>
              <a:t>(</a:t>
            </a:r>
            <a:r>
              <a:rPr lang="en-US" sz="1600" b="1" dirty="0" err="1">
                <a:latin typeface="Times New Roman"/>
              </a:rPr>
              <a:t>twoD</a:t>
            </a:r>
            <a:r>
              <a:rPr lang="en-US" sz="1600" b="1" dirty="0">
                <a:latin typeface="Times New Roman"/>
              </a:rPr>
              <a:t>[</a:t>
            </a:r>
            <a:r>
              <a:rPr lang="en-US" sz="1600" b="1" dirty="0" err="1">
                <a:latin typeface="Times New Roman"/>
              </a:rPr>
              <a:t>i</a:t>
            </a:r>
            <a:r>
              <a:rPr lang="en-US" sz="1600" b="1" dirty="0">
                <a:latin typeface="Times New Roman"/>
              </a:rPr>
              <a:t>][j] + " ");</a:t>
            </a:r>
            <a:endParaRPr sz="16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605"/>
              <a:buNone/>
            </a:pPr>
            <a:r>
              <a:rPr lang="en-US" sz="1600" b="1" dirty="0">
                <a:latin typeface="Times New Roman"/>
              </a:rPr>
              <a:t> </a:t>
            </a:r>
            <a:r>
              <a:rPr lang="en-US" sz="1600" b="1" dirty="0" err="1">
                <a:latin typeface="Times New Roman"/>
              </a:rPr>
              <a:t>System.out.println</a:t>
            </a:r>
            <a:r>
              <a:rPr lang="en-US" sz="1600" b="1" dirty="0">
                <a:latin typeface="Times New Roman"/>
              </a:rPr>
              <a:t>();</a:t>
            </a:r>
            <a:endParaRPr sz="16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605"/>
              <a:buNone/>
            </a:pPr>
            <a:r>
              <a:rPr lang="en-US" sz="1600" b="1" dirty="0">
                <a:latin typeface="Times New Roman"/>
              </a:rPr>
              <a:t> }</a:t>
            </a:r>
            <a:endParaRPr sz="16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605"/>
              <a:buNone/>
            </a:pPr>
            <a:r>
              <a:rPr lang="en-US" sz="1600" b="1" dirty="0">
                <a:latin typeface="Times New Roman"/>
              </a:rPr>
              <a:t> }</a:t>
            </a:r>
            <a:endParaRPr sz="16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605"/>
              <a:buNone/>
            </a:pPr>
            <a:r>
              <a:rPr lang="en-US" sz="1600" b="1" dirty="0">
                <a:latin typeface="Times New Roman"/>
              </a:rPr>
              <a:t>}</a:t>
            </a:r>
            <a:endParaRPr sz="1600" b="1" dirty="0"/>
          </a:p>
        </p:txBody>
      </p:sp>
      <p:sp>
        <p:nvSpPr>
          <p:cNvPr id="511" name="Google Shape;511;g2a2df431535_0_107"/>
          <p:cNvSpPr txBox="1"/>
          <p:nvPr/>
        </p:nvSpPr>
        <p:spPr>
          <a:xfrm>
            <a:off x="4850288" y="1726700"/>
            <a:ext cx="4202775" cy="36932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 ----jGRASP exec: java TwoDArray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0	1	2	3	4	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5	6	7	8	9	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10	11	12	13	14	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15	16	17	18	19	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Times New Roman"/>
                <a:ea typeface="Arial"/>
                <a:cs typeface="Arial"/>
                <a:sym typeface="Arial"/>
              </a:rPr>
              <a:t> ----jGRASP: operation complete.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25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9954464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800" dirty="0" smtClean="0">
                <a:latin typeface="Times New Roman"/>
              </a:rPr>
              <a:t>Example ternary operator (?)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7300"/>
            <a:ext cx="8229600" cy="50292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public class </a:t>
            </a:r>
            <a:r>
              <a:rPr lang="en-US" sz="1600" dirty="0" err="1">
                <a:latin typeface="Times New Roman"/>
              </a:rPr>
              <a:t>EvenOdd</a:t>
            </a:r>
            <a:r>
              <a:rPr lang="en-US" sz="1600" dirty="0">
                <a:latin typeface="Times New Roman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public static void main(String[] </a:t>
            </a:r>
            <a:r>
              <a:rPr lang="en-US" sz="1600" dirty="0" err="1">
                <a:latin typeface="Times New Roman"/>
              </a:rPr>
              <a:t>args</a:t>
            </a:r>
            <a:r>
              <a:rPr lang="en-US" sz="1600" dirty="0">
                <a:latin typeface="Times New Roman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</a:t>
            </a:r>
            <a:r>
              <a:rPr lang="en-US" sz="1600" dirty="0" err="1">
                <a:latin typeface="Times New Roman"/>
              </a:rPr>
              <a:t>int</a:t>
            </a:r>
            <a:r>
              <a:rPr lang="en-US" sz="1600" dirty="0">
                <a:latin typeface="Times New Roman"/>
              </a:rPr>
              <a:t> </a:t>
            </a:r>
            <a:r>
              <a:rPr lang="en-US" sz="1600" dirty="0" err="1">
                <a:latin typeface="Times New Roman"/>
              </a:rPr>
              <a:t>num</a:t>
            </a:r>
            <a:r>
              <a:rPr lang="en-US" sz="1600" dirty="0">
                <a:latin typeface="Times New Roman"/>
              </a:rPr>
              <a:t> = 7;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String result = (</a:t>
            </a:r>
            <a:r>
              <a:rPr lang="en-US" sz="1600" dirty="0" err="1">
                <a:latin typeface="Times New Roman"/>
              </a:rPr>
              <a:t>num</a:t>
            </a:r>
            <a:r>
              <a:rPr lang="en-US" sz="1600" dirty="0">
                <a:latin typeface="Times New Roman"/>
              </a:rPr>
              <a:t> % 2 == 0) ? "Even" : "Odd";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</a:t>
            </a:r>
            <a:r>
              <a:rPr lang="en-US" sz="1600" dirty="0" err="1">
                <a:latin typeface="Times New Roman"/>
              </a:rPr>
              <a:t>System.out.println</a:t>
            </a:r>
            <a:r>
              <a:rPr lang="en-US" sz="1600" dirty="0">
                <a:latin typeface="Times New Roman"/>
              </a:rPr>
              <a:t>(result);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 smtClean="0">
                <a:latin typeface="Times New Roman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lang="en-US" sz="1600" dirty="0" smtClean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 smtClean="0">
                <a:latin typeface="Times New Roman"/>
              </a:rPr>
              <a:t>//Output: </a:t>
            </a:r>
            <a:r>
              <a:rPr lang="en-US" sz="1600" dirty="0">
                <a:latin typeface="Times New Roman"/>
              </a:rPr>
              <a:t>Odd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26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8626091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800" dirty="0" smtClean="0">
                <a:latin typeface="Times New Roman"/>
              </a:rPr>
              <a:t>Example 2: Ternary operator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7300"/>
            <a:ext cx="8229600" cy="50292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 smtClean="0">
                <a:latin typeface="Times New Roman"/>
              </a:rPr>
              <a:t>//Using if-else:                  	  	             //</a:t>
            </a:r>
            <a:r>
              <a:rPr lang="en-US" sz="1600" dirty="0">
                <a:latin typeface="Times New Roman"/>
              </a:rPr>
              <a:t>Using ternary operator: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1600" dirty="0" smtClean="0">
                <a:latin typeface="Times New Roman"/>
              </a:rPr>
              <a:t>					max </a:t>
            </a:r>
            <a:r>
              <a:rPr lang="pt-BR" sz="1600" dirty="0">
                <a:latin typeface="Times New Roman"/>
              </a:rPr>
              <a:t>= (a &gt; b) ? a : b;</a:t>
            </a: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 smtClean="0">
                <a:latin typeface="Times New Roman"/>
              </a:rPr>
              <a:t>if (a &gt; b)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 smtClean="0">
                <a:latin typeface="Times New Roman"/>
              </a:rPr>
              <a:t>    max = a;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 smtClean="0">
                <a:latin typeface="Times New Roman"/>
              </a:rPr>
              <a:t>else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 smtClean="0">
                <a:latin typeface="Times New Roman"/>
              </a:rPr>
              <a:t>    max = b;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lang="en-US" sz="1600" dirty="0" smtClean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 smtClean="0">
                <a:latin typeface="Times New Roman"/>
              </a:rPr>
              <a:t>public </a:t>
            </a:r>
            <a:r>
              <a:rPr lang="en-US" sz="1600" dirty="0">
                <a:latin typeface="Times New Roman"/>
              </a:rPr>
              <a:t>class </a:t>
            </a:r>
            <a:r>
              <a:rPr lang="en-US" sz="1600" dirty="0" err="1">
                <a:latin typeface="Times New Roman"/>
              </a:rPr>
              <a:t>TernaryExample</a:t>
            </a:r>
            <a:r>
              <a:rPr lang="en-US" sz="1600" dirty="0">
                <a:latin typeface="Times New Roman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public static void main(String[] </a:t>
            </a:r>
            <a:r>
              <a:rPr lang="en-US" sz="1600" dirty="0" err="1">
                <a:latin typeface="Times New Roman"/>
              </a:rPr>
              <a:t>args</a:t>
            </a:r>
            <a:r>
              <a:rPr lang="en-US" sz="1600" dirty="0">
                <a:latin typeface="Times New Roman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</a:t>
            </a:r>
            <a:r>
              <a:rPr lang="en-US" sz="1600" dirty="0" err="1">
                <a:latin typeface="Times New Roman"/>
              </a:rPr>
              <a:t>int</a:t>
            </a:r>
            <a:r>
              <a:rPr lang="en-US" sz="1600" dirty="0">
                <a:latin typeface="Times New Roman"/>
              </a:rPr>
              <a:t> a = 10, b = 20;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</a:t>
            </a:r>
            <a:r>
              <a:rPr lang="en-US" sz="1600" dirty="0" err="1">
                <a:latin typeface="Times New Roman"/>
              </a:rPr>
              <a:t>int</a:t>
            </a:r>
            <a:r>
              <a:rPr lang="en-US" sz="1600" dirty="0">
                <a:latin typeface="Times New Roman"/>
              </a:rPr>
              <a:t> max = (a &gt; b) ? a : b;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</a:t>
            </a:r>
            <a:r>
              <a:rPr lang="en-US" sz="1600" dirty="0" err="1">
                <a:latin typeface="Times New Roman"/>
              </a:rPr>
              <a:t>System.out.println</a:t>
            </a:r>
            <a:r>
              <a:rPr lang="en-US" sz="1600" dirty="0">
                <a:latin typeface="Times New Roman"/>
              </a:rPr>
              <a:t>("Largest number = " + max);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 smtClean="0">
                <a:latin typeface="Times New Roman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smtClean="0">
                <a:latin typeface="Times New Roman"/>
              </a:rPr>
              <a:t>// Output: Largest </a:t>
            </a:r>
            <a:r>
              <a:rPr lang="en-US" sz="1600" dirty="0">
                <a:latin typeface="Times New Roman"/>
              </a:rPr>
              <a:t>number = 20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27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1210044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800" dirty="0" smtClean="0">
                <a:latin typeface="Times New Roman"/>
              </a:rPr>
              <a:t>Example for create object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7300"/>
            <a:ext cx="8229600" cy="50292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class Student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String name;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</a:t>
            </a:r>
            <a:r>
              <a:rPr lang="en-US" sz="1600" dirty="0" err="1">
                <a:latin typeface="Times New Roman"/>
              </a:rPr>
              <a:t>int</a:t>
            </a:r>
            <a:r>
              <a:rPr lang="en-US" sz="1600" dirty="0">
                <a:latin typeface="Times New Roman"/>
              </a:rPr>
              <a:t> age;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void display()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</a:t>
            </a:r>
            <a:r>
              <a:rPr lang="en-US" sz="1600" dirty="0" err="1">
                <a:latin typeface="Times New Roman"/>
              </a:rPr>
              <a:t>System.out.println</a:t>
            </a:r>
            <a:r>
              <a:rPr lang="en-US" sz="1600" dirty="0">
                <a:latin typeface="Times New Roman"/>
              </a:rPr>
              <a:t>("Name: " + name);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</a:t>
            </a:r>
            <a:r>
              <a:rPr lang="en-US" sz="1600" dirty="0" err="1">
                <a:latin typeface="Times New Roman"/>
              </a:rPr>
              <a:t>System.out.println</a:t>
            </a:r>
            <a:r>
              <a:rPr lang="en-US" sz="1600" dirty="0">
                <a:latin typeface="Times New Roman"/>
              </a:rPr>
              <a:t>("Age: " + age);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public static void main(String[] </a:t>
            </a:r>
            <a:r>
              <a:rPr lang="en-US" sz="1600" dirty="0" err="1">
                <a:latin typeface="Times New Roman"/>
              </a:rPr>
              <a:t>args</a:t>
            </a:r>
            <a:r>
              <a:rPr lang="en-US" sz="1600" dirty="0">
                <a:latin typeface="Times New Roman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Student s1 = new Student();          </a:t>
            </a:r>
            <a:r>
              <a:rPr lang="en-US" sz="1600" dirty="0" smtClean="0">
                <a:latin typeface="Times New Roman"/>
              </a:rPr>
              <a:t> </a:t>
            </a:r>
            <a:r>
              <a:rPr lang="en-US" sz="1600" dirty="0">
                <a:latin typeface="Times New Roman"/>
              </a:rPr>
              <a:t>//Creates a new Student object and stores its reference in s1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s1.name = </a:t>
            </a:r>
            <a:r>
              <a:rPr lang="en-US" sz="1600" dirty="0" smtClean="0">
                <a:latin typeface="Times New Roman"/>
              </a:rPr>
              <a:t>“</a:t>
            </a:r>
            <a:r>
              <a:rPr lang="en-US" sz="1600" dirty="0">
                <a:latin typeface="Times New Roman"/>
              </a:rPr>
              <a:t>Ravi";	           //Assigns </a:t>
            </a:r>
            <a:r>
              <a:rPr lang="en-US" sz="1600" dirty="0" smtClean="0">
                <a:latin typeface="Times New Roman"/>
              </a:rPr>
              <a:t>“Ravi" </a:t>
            </a:r>
            <a:r>
              <a:rPr lang="en-US" sz="1600" dirty="0">
                <a:latin typeface="Times New Roman"/>
              </a:rPr>
              <a:t>to the name variable of object s1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s1.age = 20;		         //Assigns </a:t>
            </a:r>
            <a:r>
              <a:rPr lang="en-US" sz="1600" dirty="0" smtClean="0">
                <a:latin typeface="Times New Roman"/>
              </a:rPr>
              <a:t>20 </a:t>
            </a:r>
            <a:r>
              <a:rPr lang="en-US" sz="1600" dirty="0">
                <a:latin typeface="Times New Roman"/>
              </a:rPr>
              <a:t>to the age variable of object s1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s1.display();		          //Calls the display() method to print the student's details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 smtClean="0">
                <a:latin typeface="Times New Roman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 smtClean="0">
                <a:latin typeface="Times New Roman"/>
              </a:rPr>
              <a:t>/*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 smtClean="0">
                <a:latin typeface="Times New Roman"/>
              </a:rPr>
              <a:t>display</a:t>
            </a:r>
            <a:r>
              <a:rPr lang="en-US" sz="1600" dirty="0">
                <a:latin typeface="Times New Roman"/>
              </a:rPr>
              <a:t>() → Method (behavior).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new Student() → Creates an object.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s1 → Object reference variable</a:t>
            </a:r>
            <a:r>
              <a:rPr lang="en-US" sz="1600" dirty="0" smtClean="0">
                <a:latin typeface="Times New Roman"/>
              </a:rPr>
              <a:t>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 smtClean="0">
                <a:latin typeface="Times New Roman"/>
              </a:rPr>
              <a:t> */</a:t>
            </a:r>
            <a:endParaRPr lang="en-US" sz="1600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28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3116948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800" dirty="0">
                <a:latin typeface="Times New Roman"/>
              </a:rPr>
              <a:t>Example:1 Default </a:t>
            </a:r>
            <a:r>
              <a:rPr lang="en-US" sz="2800" dirty="0" smtClean="0">
                <a:latin typeface="Times New Roman"/>
              </a:rPr>
              <a:t>Constructor (No-Argument </a:t>
            </a:r>
            <a:r>
              <a:rPr lang="en-US" sz="2800" dirty="0">
                <a:latin typeface="Times New Roman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7300"/>
            <a:ext cx="8229600" cy="50292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class Student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String name;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</a:t>
            </a:r>
            <a:r>
              <a:rPr lang="en-US" sz="1600" dirty="0" err="1">
                <a:latin typeface="Times New Roman"/>
              </a:rPr>
              <a:t>int</a:t>
            </a:r>
            <a:r>
              <a:rPr lang="en-US" sz="1600" dirty="0">
                <a:latin typeface="Times New Roman"/>
              </a:rPr>
              <a:t> age;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// Constructor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Student()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name = </a:t>
            </a:r>
            <a:r>
              <a:rPr lang="en-US" sz="1600" dirty="0" smtClean="0">
                <a:latin typeface="Times New Roman"/>
              </a:rPr>
              <a:t>“Ravi";</a:t>
            </a: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age = </a:t>
            </a:r>
            <a:r>
              <a:rPr lang="en-US" sz="1600" dirty="0" smtClean="0">
                <a:latin typeface="Times New Roman"/>
              </a:rPr>
              <a:t>21;</a:t>
            </a: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// Display student details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void display()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</a:t>
            </a:r>
            <a:r>
              <a:rPr lang="en-US" sz="1600" dirty="0" err="1">
                <a:latin typeface="Times New Roman"/>
              </a:rPr>
              <a:t>System.out.println</a:t>
            </a:r>
            <a:r>
              <a:rPr lang="en-US" sz="1600" dirty="0">
                <a:latin typeface="Times New Roman"/>
              </a:rPr>
              <a:t>("Name: " + name);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</a:t>
            </a:r>
            <a:r>
              <a:rPr lang="en-US" sz="1600" dirty="0" err="1">
                <a:latin typeface="Times New Roman"/>
              </a:rPr>
              <a:t>System.out.println</a:t>
            </a:r>
            <a:r>
              <a:rPr lang="en-US" sz="1600" dirty="0">
                <a:latin typeface="Times New Roman"/>
              </a:rPr>
              <a:t>("Age: " + age);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public static void main(String[] </a:t>
            </a:r>
            <a:r>
              <a:rPr lang="en-US" sz="1600" dirty="0" err="1">
                <a:latin typeface="Times New Roman"/>
              </a:rPr>
              <a:t>args</a:t>
            </a:r>
            <a:r>
              <a:rPr lang="en-US" sz="1600" dirty="0">
                <a:latin typeface="Times New Roman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// Creating an object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Student s1 = new Student();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// Calling the display method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s1.display();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}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29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6097201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800" dirty="0">
                <a:latin typeface="Times New Roman"/>
              </a:rPr>
              <a:t>Example 2: Parameterized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7300"/>
            <a:ext cx="8229600" cy="50292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class Student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String name;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</a:t>
            </a:r>
            <a:r>
              <a:rPr lang="en-US" sz="1600" dirty="0" err="1">
                <a:latin typeface="Times New Roman"/>
              </a:rPr>
              <a:t>int</a:t>
            </a:r>
            <a:r>
              <a:rPr lang="en-US" sz="1600" dirty="0">
                <a:latin typeface="Times New Roman"/>
              </a:rPr>
              <a:t> age;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// Parameterized constructor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Student(String n, </a:t>
            </a:r>
            <a:r>
              <a:rPr lang="en-US" sz="1600" dirty="0" err="1">
                <a:latin typeface="Times New Roman"/>
              </a:rPr>
              <a:t>int</a:t>
            </a:r>
            <a:r>
              <a:rPr lang="en-US" sz="1600" dirty="0">
                <a:latin typeface="Times New Roman"/>
              </a:rPr>
              <a:t> a)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name = n;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age = a;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void display()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</a:t>
            </a:r>
            <a:r>
              <a:rPr lang="en-US" sz="1600" dirty="0" err="1">
                <a:latin typeface="Times New Roman"/>
              </a:rPr>
              <a:t>System.out.println</a:t>
            </a:r>
            <a:r>
              <a:rPr lang="en-US" sz="1600" dirty="0">
                <a:latin typeface="Times New Roman"/>
              </a:rPr>
              <a:t>("Name: " + name);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</a:t>
            </a:r>
            <a:r>
              <a:rPr lang="en-US" sz="1600" dirty="0" err="1">
                <a:latin typeface="Times New Roman"/>
              </a:rPr>
              <a:t>System.out.println</a:t>
            </a:r>
            <a:r>
              <a:rPr lang="en-US" sz="1600" dirty="0">
                <a:latin typeface="Times New Roman"/>
              </a:rPr>
              <a:t>("Age: " + age);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public static void main(String[] </a:t>
            </a:r>
            <a:r>
              <a:rPr lang="en-US" sz="1600" dirty="0" err="1">
                <a:latin typeface="Times New Roman"/>
              </a:rPr>
              <a:t>args</a:t>
            </a:r>
            <a:r>
              <a:rPr lang="en-US" sz="1600" dirty="0">
                <a:latin typeface="Times New Roman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Student s1 = new Student("Ravi", 20);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Student s2 = new Student("</a:t>
            </a:r>
            <a:r>
              <a:rPr lang="en-US" sz="1600" dirty="0" err="1">
                <a:latin typeface="Times New Roman"/>
              </a:rPr>
              <a:t>Kiran</a:t>
            </a:r>
            <a:r>
              <a:rPr lang="en-US" sz="1600" dirty="0">
                <a:latin typeface="Times New Roman"/>
              </a:rPr>
              <a:t>", 21);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s1.display();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s2.display();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}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30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46707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800" b="1" dirty="0">
                <a:latin typeface="Times New Roman" charset="0"/>
                <a:cs typeface="Arial" charset="0"/>
              </a:rPr>
              <a:t>Constructor vs. Method</a:t>
            </a:r>
            <a:r>
              <a:rPr lang="en-US" b="1" dirty="0">
                <a:latin typeface="Arial" charset="0"/>
                <a:cs typeface="Arial" charset="0"/>
              </a:rPr>
              <a:t/>
            </a:r>
            <a:br>
              <a:rPr lang="en-US" b="1" dirty="0">
                <a:latin typeface="Arial" charset="0"/>
                <a:cs typeface="Arial" charset="0"/>
              </a:rPr>
            </a:br>
            <a:endParaRPr lang="en-US" sz="28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629324"/>
              </p:ext>
            </p:extLst>
          </p:nvPr>
        </p:nvGraphicFramePr>
        <p:xfrm>
          <a:off x="457200" y="1257300"/>
          <a:ext cx="8229600" cy="50292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0895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sz="1600" b="1" dirty="0">
                          <a:latin typeface="Times New Roman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sz="1600" b="1" dirty="0">
                          <a:latin typeface="Times New Roman"/>
                        </a:rPr>
                        <a:t>Constructor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sz="1600" b="1" dirty="0">
                          <a:latin typeface="Times New Roman"/>
                        </a:rPr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Arial" pitchFamily="34" charset="0"/>
                        <a:buChar char="•"/>
                      </a:pPr>
                      <a:r>
                        <a:rPr lang="en-US" sz="1600" dirty="0">
                          <a:latin typeface="Times New Roman"/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Arial" pitchFamily="34" charset="0"/>
                        <a:buChar char="•"/>
                      </a:pPr>
                      <a:r>
                        <a:rPr lang="en-US" sz="1600">
                          <a:latin typeface="Times New Roman"/>
                        </a:rPr>
                        <a:t>Same as class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Arial" pitchFamily="34" charset="0"/>
                        <a:buChar char="•"/>
                      </a:pPr>
                      <a:r>
                        <a:rPr lang="en-US" sz="1600">
                          <a:latin typeface="Times New Roman"/>
                        </a:rPr>
                        <a:t>Can have any valid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Arial" pitchFamily="34" charset="0"/>
                        <a:buChar char="•"/>
                      </a:pPr>
                      <a:r>
                        <a:rPr lang="en-US" sz="1600" dirty="0">
                          <a:latin typeface="Times New Roman"/>
                        </a:rPr>
                        <a:t>Return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Arial" pitchFamily="34" charset="0"/>
                        <a:buChar char="•"/>
                      </a:pPr>
                      <a:r>
                        <a:rPr lang="en-US" sz="1600">
                          <a:latin typeface="Times New Roman"/>
                        </a:rPr>
                        <a:t>No return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Arial" pitchFamily="34" charset="0"/>
                        <a:buChar char="•"/>
                      </a:pPr>
                      <a:r>
                        <a:rPr lang="en-US" sz="1600">
                          <a:latin typeface="Times New Roman"/>
                        </a:rPr>
                        <a:t>Has a return type or void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Arial" pitchFamily="34" charset="0"/>
                        <a:buChar char="•"/>
                      </a:pPr>
                      <a:r>
                        <a:rPr lang="en-US" sz="1600" dirty="0">
                          <a:latin typeface="Times New Roman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Arial" pitchFamily="34" charset="0"/>
                        <a:buChar char="•"/>
                      </a:pPr>
                      <a:r>
                        <a:rPr lang="en-US" sz="1600">
                          <a:latin typeface="Times New Roman"/>
                        </a:rPr>
                        <a:t>Initializes an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Arial" pitchFamily="34" charset="0"/>
                        <a:buChar char="•"/>
                      </a:pPr>
                      <a:r>
                        <a:rPr lang="en-US" sz="1600">
                          <a:latin typeface="Times New Roman"/>
                        </a:rPr>
                        <a:t>Performs an 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Arial" pitchFamily="34" charset="0"/>
                        <a:buChar char="•"/>
                      </a:pPr>
                      <a:r>
                        <a:rPr lang="en-US" sz="1600" dirty="0">
                          <a:latin typeface="Times New Roman"/>
                        </a:rPr>
                        <a:t>Invocation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Arial" pitchFamily="34" charset="0"/>
                        <a:buChar char="•"/>
                      </a:pPr>
                      <a:r>
                        <a:rPr lang="en-US" sz="1600">
                          <a:latin typeface="Times New Roman"/>
                        </a:rPr>
                        <a:t>Called during object creation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Arial" pitchFamily="34" charset="0"/>
                        <a:buChar char="•"/>
                      </a:pPr>
                      <a:r>
                        <a:rPr lang="en-US" sz="1600">
                          <a:latin typeface="Times New Roman"/>
                        </a:rPr>
                        <a:t>Called explicitly or through other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Arial" pitchFamily="34" charset="0"/>
                        <a:buChar char="•"/>
                      </a:pPr>
                      <a:r>
                        <a:rPr lang="en-US" sz="1600" dirty="0">
                          <a:latin typeface="Times New Roman"/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Arial" pitchFamily="34" charset="0"/>
                        <a:buChar char="•"/>
                      </a:pPr>
                      <a:r>
                        <a:rPr lang="en-US" sz="1600" dirty="0">
                          <a:latin typeface="Times New Roman"/>
                        </a:rPr>
                        <a:t>Student()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Arial" pitchFamily="34" charset="0"/>
                        <a:buChar char="•"/>
                      </a:pPr>
                      <a:r>
                        <a:rPr lang="en-US" sz="1600" dirty="0">
                          <a:latin typeface="Times New Roman"/>
                        </a:rPr>
                        <a:t>display()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31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0745483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800" dirty="0" smtClean="0">
                <a:latin typeface="Times New Roman"/>
              </a:rPr>
              <a:t>Example: this keyword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7300"/>
            <a:ext cx="8229600" cy="50292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class Student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String name;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</a:t>
            </a:r>
            <a:r>
              <a:rPr lang="en-US" sz="1600" dirty="0" err="1">
                <a:latin typeface="Times New Roman"/>
              </a:rPr>
              <a:t>int</a:t>
            </a:r>
            <a:r>
              <a:rPr lang="en-US" sz="1600" dirty="0">
                <a:latin typeface="Times New Roman"/>
              </a:rPr>
              <a:t> age;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Student(String name, </a:t>
            </a:r>
            <a:r>
              <a:rPr lang="en-US" sz="1600" dirty="0" err="1">
                <a:latin typeface="Times New Roman"/>
              </a:rPr>
              <a:t>int</a:t>
            </a:r>
            <a:r>
              <a:rPr lang="en-US" sz="1600" dirty="0">
                <a:latin typeface="Times New Roman"/>
              </a:rPr>
              <a:t> age)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this.name = name;                                 </a:t>
            </a:r>
            <a:r>
              <a:rPr lang="en-US" sz="1600" dirty="0" smtClean="0">
                <a:latin typeface="Times New Roman"/>
              </a:rPr>
              <a:t>	  //  this.name </a:t>
            </a:r>
            <a:r>
              <a:rPr lang="en-US" sz="1600" dirty="0">
                <a:latin typeface="Times New Roman"/>
              </a:rPr>
              <a:t>→ instance variable of the current object </a:t>
            </a:r>
            <a:endParaRPr lang="en-US" sz="1600" dirty="0" smtClean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</a:t>
            </a:r>
            <a:r>
              <a:rPr lang="en-US" sz="1600" dirty="0" smtClean="0">
                <a:latin typeface="Times New Roman"/>
              </a:rPr>
              <a:t>       </a:t>
            </a:r>
            <a:r>
              <a:rPr lang="en-US" sz="1600" dirty="0" err="1" smtClean="0">
                <a:latin typeface="Times New Roman"/>
              </a:rPr>
              <a:t>this.age</a:t>
            </a:r>
            <a:r>
              <a:rPr lang="en-US" sz="1600" dirty="0" smtClean="0">
                <a:latin typeface="Times New Roman"/>
              </a:rPr>
              <a:t> </a:t>
            </a:r>
            <a:r>
              <a:rPr lang="en-US" sz="1600" dirty="0">
                <a:latin typeface="Times New Roman"/>
              </a:rPr>
              <a:t>= age</a:t>
            </a:r>
            <a:r>
              <a:rPr lang="en-US" sz="1600" dirty="0" smtClean="0">
                <a:latin typeface="Times New Roman"/>
              </a:rPr>
              <a:t>;			 //  name  ,age → </a:t>
            </a:r>
            <a:r>
              <a:rPr lang="en-US" sz="1600" dirty="0">
                <a:latin typeface="Times New Roman"/>
              </a:rPr>
              <a:t>constructor parameter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 smtClean="0">
                <a:latin typeface="Times New Roman"/>
              </a:rPr>
              <a:t>}</a:t>
            </a: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void display()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</a:t>
            </a:r>
            <a:r>
              <a:rPr lang="en-US" sz="1600" dirty="0" err="1">
                <a:latin typeface="Times New Roman"/>
              </a:rPr>
              <a:t>System.out.println</a:t>
            </a:r>
            <a:r>
              <a:rPr lang="en-US" sz="1600" dirty="0">
                <a:latin typeface="Times New Roman"/>
              </a:rPr>
              <a:t>("Name: " + name);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</a:t>
            </a:r>
            <a:r>
              <a:rPr lang="en-US" sz="1600" dirty="0" err="1">
                <a:latin typeface="Times New Roman"/>
              </a:rPr>
              <a:t>System.out.println</a:t>
            </a:r>
            <a:r>
              <a:rPr lang="en-US" sz="1600" dirty="0">
                <a:latin typeface="Times New Roman"/>
              </a:rPr>
              <a:t>("Age: " + age);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public static void main(String[] </a:t>
            </a:r>
            <a:r>
              <a:rPr lang="en-US" sz="1600" dirty="0" err="1">
                <a:latin typeface="Times New Roman"/>
              </a:rPr>
              <a:t>args</a:t>
            </a:r>
            <a:r>
              <a:rPr lang="en-US" sz="1600" dirty="0">
                <a:latin typeface="Times New Roman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Student s1 = new Student("Ravi", 20);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s1.display();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}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32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5983283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800" dirty="0">
                <a:latin typeface="Times New Roman"/>
              </a:rPr>
              <a:t>Using </a:t>
            </a:r>
            <a:r>
              <a:rPr lang="en-US" sz="2800" dirty="0" smtClean="0">
                <a:latin typeface="Times New Roman"/>
              </a:rPr>
              <a:t>‘this’ </a:t>
            </a:r>
            <a:r>
              <a:rPr lang="en-US" sz="2800" dirty="0">
                <a:latin typeface="Times New Roman"/>
              </a:rPr>
              <a:t>to Call a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7300"/>
            <a:ext cx="8229600" cy="50292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class Student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void display()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</a:t>
            </a:r>
            <a:r>
              <a:rPr lang="en-US" sz="1600" dirty="0" err="1">
                <a:latin typeface="Times New Roman"/>
              </a:rPr>
              <a:t>System.out.println</a:t>
            </a:r>
            <a:r>
              <a:rPr lang="en-US" sz="1600" dirty="0">
                <a:latin typeface="Times New Roman"/>
              </a:rPr>
              <a:t>("Student details");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void show()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</a:t>
            </a:r>
            <a:r>
              <a:rPr lang="en-US" sz="1600" dirty="0" err="1">
                <a:latin typeface="Times New Roman"/>
              </a:rPr>
              <a:t>this.display</a:t>
            </a:r>
            <a:r>
              <a:rPr lang="en-US" sz="1600" dirty="0">
                <a:latin typeface="Times New Roman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public static void main(String[] </a:t>
            </a:r>
            <a:r>
              <a:rPr lang="en-US" sz="1600" dirty="0" err="1">
                <a:latin typeface="Times New Roman"/>
              </a:rPr>
              <a:t>args</a:t>
            </a:r>
            <a:r>
              <a:rPr lang="en-US" sz="1600" dirty="0">
                <a:latin typeface="Times New Roman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Student s1 = new Student();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s1.show();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}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33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6023977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800" dirty="0" smtClean="0">
                <a:latin typeface="Times New Roman"/>
              </a:rPr>
              <a:t>Difference</a:t>
            </a:r>
            <a:endParaRPr lang="en-US" sz="28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970406"/>
              </p:ext>
            </p:extLst>
          </p:nvPr>
        </p:nvGraphicFramePr>
        <p:xfrm>
          <a:off x="457200" y="1257300"/>
          <a:ext cx="8229600" cy="50292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sz="1600" b="1" dirty="0">
                          <a:latin typeface="Times New Roman"/>
                        </a:rPr>
                        <a:t>Static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sz="1600" b="1" dirty="0">
                          <a:latin typeface="Times New Roman"/>
                        </a:rPr>
                        <a:t>Non-Static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sz="1600">
                          <a:latin typeface="Times New Roman"/>
                        </a:rPr>
                        <a:t>Belongs to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sz="1600">
                          <a:latin typeface="Times New Roman"/>
                        </a:rPr>
                        <a:t>Belongs to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sz="1600">
                          <a:latin typeface="Times New Roman"/>
                        </a:rPr>
                        <a:t>One class-level member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sz="1600">
                          <a:latin typeface="Times New Roman"/>
                        </a:rPr>
                        <a:t>Associated with individual objects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sz="1600">
                          <a:latin typeface="Times New Roman"/>
                        </a:rPr>
                        <a:t>Can access using class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sz="1600">
                          <a:latin typeface="Times New Roman"/>
                        </a:rPr>
                        <a:t>Usually accessed using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sz="1600">
                          <a:latin typeface="Times New Roman"/>
                        </a:rPr>
                        <a:t>Created/managed at class 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sz="1600">
                          <a:latin typeface="Times New Roman"/>
                        </a:rPr>
                        <a:t>Associated with object creation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sz="1600">
                          <a:latin typeface="Times New Roman"/>
                        </a:rPr>
                        <a:t>Example: Student.college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sz="1600" dirty="0">
                          <a:latin typeface="Times New Roman"/>
                        </a:rPr>
                        <a:t>Example: s1.name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34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750923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800" dirty="0" smtClean="0">
                <a:latin typeface="Times New Roman"/>
              </a:rPr>
              <a:t>Example for static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7300"/>
            <a:ext cx="8229600" cy="50292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class Student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</a:t>
            </a:r>
            <a:r>
              <a:rPr lang="en-US" sz="1600" dirty="0" err="1">
                <a:latin typeface="Times New Roman"/>
              </a:rPr>
              <a:t>int</a:t>
            </a:r>
            <a:r>
              <a:rPr lang="en-US" sz="1600" dirty="0">
                <a:latin typeface="Times New Roman"/>
              </a:rPr>
              <a:t> </a:t>
            </a:r>
            <a:r>
              <a:rPr lang="en-US" sz="1600" dirty="0" err="1">
                <a:latin typeface="Times New Roman"/>
              </a:rPr>
              <a:t>rollNo</a:t>
            </a:r>
            <a:r>
              <a:rPr lang="en-US" sz="1600" dirty="0">
                <a:latin typeface="Times New Roman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String name;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static String college = "SNPSU";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Student(</a:t>
            </a:r>
            <a:r>
              <a:rPr lang="en-US" sz="1600" dirty="0" err="1">
                <a:latin typeface="Times New Roman"/>
              </a:rPr>
              <a:t>int</a:t>
            </a:r>
            <a:r>
              <a:rPr lang="en-US" sz="1600" dirty="0">
                <a:latin typeface="Times New Roman"/>
              </a:rPr>
              <a:t> r, String n)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</a:t>
            </a:r>
            <a:r>
              <a:rPr lang="en-US" sz="1600" dirty="0" err="1">
                <a:latin typeface="Times New Roman"/>
              </a:rPr>
              <a:t>rollNo</a:t>
            </a:r>
            <a:r>
              <a:rPr lang="en-US" sz="1600" dirty="0">
                <a:latin typeface="Times New Roman"/>
              </a:rPr>
              <a:t> = r;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name = n;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void display()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</a:t>
            </a:r>
            <a:r>
              <a:rPr lang="en-US" sz="1600" dirty="0" err="1">
                <a:latin typeface="Times New Roman"/>
              </a:rPr>
              <a:t>System.out.println</a:t>
            </a:r>
            <a:r>
              <a:rPr lang="en-US" sz="1600" dirty="0">
                <a:latin typeface="Times New Roman"/>
              </a:rPr>
              <a:t>(</a:t>
            </a:r>
            <a:r>
              <a:rPr lang="en-US" sz="1600" dirty="0" err="1">
                <a:latin typeface="Times New Roman"/>
              </a:rPr>
              <a:t>rollNo</a:t>
            </a:r>
            <a:r>
              <a:rPr lang="en-US" sz="1600" dirty="0">
                <a:latin typeface="Times New Roman"/>
              </a:rPr>
              <a:t> + " " + name + " " + college);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public static void main(String[] </a:t>
            </a:r>
            <a:r>
              <a:rPr lang="en-US" sz="1600" dirty="0" err="1">
                <a:latin typeface="Times New Roman"/>
              </a:rPr>
              <a:t>args</a:t>
            </a:r>
            <a:r>
              <a:rPr lang="en-US" sz="1600" dirty="0">
                <a:latin typeface="Times New Roman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Student s1 = new Student(101, "Rahul");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Student s2 = new Student(102, "</a:t>
            </a:r>
            <a:r>
              <a:rPr lang="en-US" sz="1600" dirty="0" err="1">
                <a:latin typeface="Times New Roman"/>
              </a:rPr>
              <a:t>Priya</a:t>
            </a:r>
            <a:r>
              <a:rPr lang="en-US" sz="1600" dirty="0">
                <a:latin typeface="Times New Roman"/>
              </a:rPr>
              <a:t>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s1.display();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    s2.display();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}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35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8612341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800" dirty="0" smtClean="0">
                <a:latin typeface="Times New Roman"/>
              </a:rPr>
              <a:t>.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7300"/>
            <a:ext cx="8229600" cy="5029200"/>
          </a:xfrm>
        </p:spPr>
        <p:txBody>
          <a:bodyPr numCol="2" spcCol="22860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CLASS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↓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Blueprint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lang="en-US" sz="16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OBJECT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↓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Instance of class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lang="en-US" sz="16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CONSTRUCTOR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↓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Initializes object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lang="en-US" sz="16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INHERITANCE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↓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Parent → Child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lang="en-US" sz="16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POLYMORPHISM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↓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One name → Many forms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lang="en-US" sz="16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ABSTRACTION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↓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Hide implementation details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lang="en-US" sz="16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STATIC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↓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Belongs to class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lang="en-US" sz="16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NON-STATIC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↓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Associated with object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lang="en-US" sz="16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this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  ↓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dirty="0">
                <a:latin typeface="Times New Roman"/>
              </a:rPr>
              <a:t>Refers to current object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36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469920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800" b="1" dirty="0" smtClean="0">
                <a:latin typeface="Times New Roman"/>
              </a:rPr>
              <a:t>Summary</a:t>
            </a:r>
            <a:r>
              <a:rPr lang="en-US" b="1" dirty="0"/>
              <a:t/>
            </a:r>
            <a:br>
              <a:rPr lang="en-US" b="1" dirty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7300"/>
            <a:ext cx="8229600" cy="50292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b="1" dirty="0" smtClean="0">
                <a:latin typeface="Times New Roman"/>
              </a:rPr>
              <a:t>Class</a:t>
            </a:r>
            <a:r>
              <a:rPr lang="en-US" sz="1600" b="1" dirty="0">
                <a:latin typeface="Times New Roman"/>
              </a:rPr>
              <a:t>:</a:t>
            </a:r>
            <a:r>
              <a:rPr lang="en-US" sz="1600" dirty="0">
                <a:latin typeface="Times New Roman"/>
              </a:rPr>
              <a:t> A blueprint for creating objects.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b="1" dirty="0">
                <a:latin typeface="Times New Roman"/>
              </a:rPr>
              <a:t>Object:</a:t>
            </a:r>
            <a:r>
              <a:rPr lang="en-US" sz="1600" dirty="0">
                <a:latin typeface="Times New Roman"/>
              </a:rPr>
              <a:t> An instance of a class.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b="1" dirty="0">
                <a:latin typeface="Times New Roman"/>
              </a:rPr>
              <a:t>Constructor:</a:t>
            </a:r>
            <a:r>
              <a:rPr lang="en-US" sz="1600" dirty="0">
                <a:latin typeface="Times New Roman"/>
              </a:rPr>
              <a:t> A special member used to initialize an object.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b="1" dirty="0">
                <a:latin typeface="Times New Roman"/>
              </a:rPr>
              <a:t>Inheritance:</a:t>
            </a:r>
            <a:r>
              <a:rPr lang="en-US" sz="1600" dirty="0">
                <a:latin typeface="Times New Roman"/>
              </a:rPr>
              <a:t> Mechanism by which a class acquires members from another class.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b="1" dirty="0">
                <a:latin typeface="Times New Roman"/>
              </a:rPr>
              <a:t>Polymorphism:</a:t>
            </a:r>
            <a:r>
              <a:rPr lang="en-US" sz="1600" dirty="0">
                <a:latin typeface="Times New Roman"/>
              </a:rPr>
              <a:t> Ability of one interface/method name to represent different behaviors.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b="1" dirty="0">
                <a:latin typeface="Times New Roman"/>
              </a:rPr>
              <a:t>Abstraction:</a:t>
            </a:r>
            <a:r>
              <a:rPr lang="en-US" sz="1600" dirty="0">
                <a:latin typeface="Times New Roman"/>
              </a:rPr>
              <a:t> Hiding implementation details and exposing essential functionality.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b="1" dirty="0">
                <a:latin typeface="Times New Roman"/>
              </a:rPr>
              <a:t>Static member:</a:t>
            </a:r>
            <a:r>
              <a:rPr lang="en-US" sz="1600" dirty="0">
                <a:latin typeface="Times New Roman"/>
              </a:rPr>
              <a:t> A member associated with the class rather than an individual object.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b="1" dirty="0">
                <a:latin typeface="Times New Roman"/>
              </a:rPr>
              <a:t>Non-static member:</a:t>
            </a:r>
            <a:r>
              <a:rPr lang="en-US" sz="1600" dirty="0">
                <a:latin typeface="Times New Roman"/>
              </a:rPr>
              <a:t> A member associated with an instance/object.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b="1" dirty="0">
                <a:latin typeface="Times New Roman"/>
              </a:rPr>
              <a:t>this:</a:t>
            </a:r>
            <a:r>
              <a:rPr lang="en-US" sz="1600" dirty="0">
                <a:latin typeface="Times New Roman"/>
              </a:rPr>
              <a:t> A reference to the current object.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lang="en-US" sz="1600" dirty="0">
              <a:latin typeface="+mj-lt"/>
            </a:endParaRP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 algn="r"/>
            <a:fld id="{AA7C0731-1CD3-4D66-9CE8-3F7B9FB34DEC}" type="slidenum">
              <a:rPr lang="en-US" sz="1200">
                <a:latin typeface="Times New Roman"/>
              </a:rPr>
              <a:t>37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133231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2642</Words>
  <Application>Microsoft Office PowerPoint</Application>
  <PresentationFormat>On-screen Show (4:3)</PresentationFormat>
  <Paragraphs>635</Paragraphs>
  <Slides>37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Contents / Index (1 of 4)</vt:lpstr>
      <vt:lpstr>Contents / Index (2 of 4)</vt:lpstr>
      <vt:lpstr>Contents / Index (3 of 4)</vt:lpstr>
      <vt:lpstr>Contents / Index (4 of 4)</vt:lpstr>
      <vt:lpstr>A First Simple Java Program</vt:lpstr>
      <vt:lpstr>Explanation of System.out.println(“Welcome to Programming in Java”);</vt:lpstr>
      <vt:lpstr>Complie and Run </vt:lpstr>
      <vt:lpstr>A Second Short Program </vt:lpstr>
      <vt:lpstr>Example showing byte, short, and int, which are Java's integer data types of different sizes.</vt:lpstr>
      <vt:lpstr>Example for byte</vt:lpstr>
      <vt:lpstr>Example : Long</vt:lpstr>
      <vt:lpstr>Example: Double</vt:lpstr>
      <vt:lpstr>CharDemo.java</vt:lpstr>
      <vt:lpstr>CharDemo2.java</vt:lpstr>
      <vt:lpstr>BoolTest.java</vt:lpstr>
      <vt:lpstr>Variables </vt:lpstr>
      <vt:lpstr>The Scope and Lifetime of Variables </vt:lpstr>
      <vt:lpstr>Type Conversion and Casting </vt:lpstr>
      <vt:lpstr>Type Conversion and Casting </vt:lpstr>
      <vt:lpstr>Data type Example</vt:lpstr>
      <vt:lpstr>Variables </vt:lpstr>
      <vt:lpstr>Example on 1D-arrays</vt:lpstr>
      <vt:lpstr>PowerPoint Presentation</vt:lpstr>
      <vt:lpstr>Average example using arrays</vt:lpstr>
      <vt:lpstr>Example on TwoDArray</vt:lpstr>
      <vt:lpstr>Example ternary operator (?)</vt:lpstr>
      <vt:lpstr>Example 2: Ternary operator</vt:lpstr>
      <vt:lpstr>Example for create object</vt:lpstr>
      <vt:lpstr>Example:1 Default Constructor (No-Argument )</vt:lpstr>
      <vt:lpstr>Example 2: Parameterized Constructor</vt:lpstr>
      <vt:lpstr>Constructor vs. Method </vt:lpstr>
      <vt:lpstr>Example: this keyword</vt:lpstr>
      <vt:lpstr>Using ‘this’ to Call a Method</vt:lpstr>
      <vt:lpstr>Difference</vt:lpstr>
      <vt:lpstr>Example for static</vt:lpstr>
      <vt:lpstr>.</vt:lpstr>
      <vt:lpstr>Summary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</dc:title>
  <dc:creator>PC</dc:creator>
  <cp:lastModifiedBy>PC</cp:lastModifiedBy>
  <cp:revision>45</cp:revision>
  <dcterms:created xsi:type="dcterms:W3CDTF">2026-09-16T00:53:08Z</dcterms:created>
  <dcterms:modified xsi:type="dcterms:W3CDTF">2026-10-01T07:46:46Z</dcterms:modified>
</cp:coreProperties>
</file>